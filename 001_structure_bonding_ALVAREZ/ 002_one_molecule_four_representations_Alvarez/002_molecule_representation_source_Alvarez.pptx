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7556500" cy="10693400"/>
  <p:notesSz cx="6858000" cy="9144000"/>
  <p:embeddedFontLst>
    <p:embeddedFont>
      <p:font typeface="Aileron Bold" charset="1" panose="00000800000000000000"/>
      <p:regular r:id="rId16"/>
    </p:embeddedFont>
    <p:embeddedFont>
      <p:font typeface="Aileron" charset="1" panose="00000500000000000000"/>
      <p:regular r:id="rId17"/>
    </p:embeddedFont>
    <p:embeddedFont>
      <p:font typeface="Tex Gyre Termes" charset="1" panose="00000500000000000000"/>
      <p:regular r:id="rId18"/>
    </p:embeddedFont>
    <p:embeddedFont>
      <p:font typeface="Tex Gyre Termes Bold Italics" charset="1" panose="00000800000000000000"/>
      <p:regular r:id="rId19"/>
    </p:embeddedFont>
    <p:embeddedFont>
      <p:font typeface="Aileron Bold Italics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566000" y="156600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7560000"/>
                </a:moveTo>
                <a:lnTo>
                  <a:pt x="0" y="0"/>
                </a:ln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close/>
              </a:path>
            </a:pathLst>
          </a:custGeom>
          <a:blipFill>
            <a:blip r:embed="rId2"/>
            <a:stretch>
              <a:fillRect l="-3063" t="0" r="-306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498" y="9052605"/>
            <a:ext cx="7255003" cy="1226340"/>
            <a:chOff x="0" y="0"/>
            <a:chExt cx="9128989" cy="15431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28989" cy="1543107"/>
            </a:xfrm>
            <a:custGeom>
              <a:avLst/>
              <a:gdLst/>
              <a:ahLst/>
              <a:cxnLst/>
              <a:rect r="r" b="b" t="t" l="l"/>
              <a:pathLst>
                <a:path h="1543107" w="9128989">
                  <a:moveTo>
                    <a:pt x="26468" y="0"/>
                  </a:moveTo>
                  <a:lnTo>
                    <a:pt x="9102521" y="0"/>
                  </a:lnTo>
                  <a:cubicBezTo>
                    <a:pt x="9109541" y="0"/>
                    <a:pt x="9116273" y="2789"/>
                    <a:pt x="9121237" y="7752"/>
                  </a:cubicBezTo>
                  <a:cubicBezTo>
                    <a:pt x="9126201" y="12716"/>
                    <a:pt x="9128989" y="19448"/>
                    <a:pt x="9128989" y="26468"/>
                  </a:cubicBezTo>
                  <a:lnTo>
                    <a:pt x="9128989" y="1516639"/>
                  </a:lnTo>
                  <a:cubicBezTo>
                    <a:pt x="9128989" y="1523658"/>
                    <a:pt x="9126201" y="1530391"/>
                    <a:pt x="9121237" y="1535354"/>
                  </a:cubicBezTo>
                  <a:cubicBezTo>
                    <a:pt x="9116273" y="1540318"/>
                    <a:pt x="9109541" y="1543107"/>
                    <a:pt x="9102521" y="1543107"/>
                  </a:cubicBezTo>
                  <a:lnTo>
                    <a:pt x="26468" y="1543107"/>
                  </a:lnTo>
                  <a:cubicBezTo>
                    <a:pt x="11850" y="1543107"/>
                    <a:pt x="0" y="1531257"/>
                    <a:pt x="0" y="1516639"/>
                  </a:cubicBezTo>
                  <a:lnTo>
                    <a:pt x="0" y="26468"/>
                  </a:lnTo>
                  <a:cubicBezTo>
                    <a:pt x="0" y="11850"/>
                    <a:pt x="11850" y="0"/>
                    <a:pt x="2646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9128989" cy="1562157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6499" y="1234171"/>
            <a:ext cx="3594051" cy="3745667"/>
            <a:chOff x="0" y="0"/>
            <a:chExt cx="4676784" cy="4874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76784" cy="4874075"/>
            </a:xfrm>
            <a:custGeom>
              <a:avLst/>
              <a:gdLst/>
              <a:ahLst/>
              <a:cxnLst/>
              <a:rect r="r" b="b" t="t" l="l"/>
              <a:pathLst>
                <a:path h="4874075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820647"/>
                  </a:lnTo>
                  <a:cubicBezTo>
                    <a:pt x="4676784" y="4850154"/>
                    <a:pt x="4652863" y="4874075"/>
                    <a:pt x="4623356" y="4874075"/>
                  </a:cubicBezTo>
                  <a:lnTo>
                    <a:pt x="53428" y="4874075"/>
                  </a:lnTo>
                  <a:cubicBezTo>
                    <a:pt x="23921" y="4874075"/>
                    <a:pt x="0" y="4850154"/>
                    <a:pt x="0" y="4820647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4676784" cy="4893125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16499" y="1746298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3856436" y="1260876"/>
            <a:ext cx="3594051" cy="3745667"/>
            <a:chOff x="0" y="0"/>
            <a:chExt cx="4676784" cy="48740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76784" cy="4874075"/>
            </a:xfrm>
            <a:custGeom>
              <a:avLst/>
              <a:gdLst/>
              <a:ahLst/>
              <a:cxnLst/>
              <a:rect r="r" b="b" t="t" l="l"/>
              <a:pathLst>
                <a:path h="4874075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820647"/>
                  </a:lnTo>
                  <a:cubicBezTo>
                    <a:pt x="4676784" y="4850154"/>
                    <a:pt x="4652863" y="4874075"/>
                    <a:pt x="4623356" y="4874075"/>
                  </a:cubicBezTo>
                  <a:lnTo>
                    <a:pt x="53428" y="4874075"/>
                  </a:lnTo>
                  <a:cubicBezTo>
                    <a:pt x="23921" y="4874075"/>
                    <a:pt x="0" y="4850154"/>
                    <a:pt x="0" y="4820647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676784" cy="4921700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3856436" y="1750903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4231594" y="2290471"/>
            <a:ext cx="2815443" cy="2037582"/>
            <a:chOff x="0" y="0"/>
            <a:chExt cx="3753924" cy="271677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881303" y="-47625"/>
              <a:ext cx="301626" cy="532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0"/>
                </a:lnSpc>
                <a:spcBef>
                  <a:spcPct val="0"/>
                </a:spcBef>
              </a:pPr>
              <a:r>
                <a:rPr lang="en-US" b="true" sz="2392" spc="-9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726452" y="-47625"/>
              <a:ext cx="301626" cy="532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0"/>
                </a:lnSpc>
                <a:spcBef>
                  <a:spcPct val="0"/>
                </a:spcBef>
              </a:pPr>
              <a:r>
                <a:rPr lang="en-US" b="true" sz="2392" spc="-9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570132" y="-47625"/>
              <a:ext cx="301626" cy="532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0"/>
                </a:lnSpc>
                <a:spcBef>
                  <a:spcPct val="0"/>
                </a:spcBef>
              </a:pPr>
              <a:r>
                <a:rPr lang="en-US" b="true" sz="2392" spc="-9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888509" y="1068224"/>
              <a:ext cx="287214" cy="532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0"/>
                </a:lnSpc>
                <a:spcBef>
                  <a:spcPct val="0"/>
                </a:spcBef>
              </a:pPr>
              <a:r>
                <a:rPr lang="en-US" b="true" sz="2392" spc="-9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733658" y="1068224"/>
              <a:ext cx="287214" cy="532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0"/>
                </a:lnSpc>
                <a:spcBef>
                  <a:spcPct val="0"/>
                </a:spcBef>
              </a:pPr>
              <a:r>
                <a:rPr lang="en-US" b="true" sz="2392" spc="-9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577337" y="1068224"/>
              <a:ext cx="287214" cy="532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0"/>
                </a:lnSpc>
                <a:spcBef>
                  <a:spcPct val="0"/>
                </a:spcBef>
              </a:pPr>
              <a:r>
                <a:rPr lang="en-US" b="true" sz="2392" spc="-9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881303" y="2184553"/>
              <a:ext cx="301626" cy="532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0"/>
                </a:lnSpc>
                <a:spcBef>
                  <a:spcPct val="0"/>
                </a:spcBef>
              </a:pPr>
              <a:r>
                <a:rPr lang="en-US" b="true" sz="2392" spc="-9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726452" y="2184553"/>
              <a:ext cx="301626" cy="532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0"/>
                </a:lnSpc>
                <a:spcBef>
                  <a:spcPct val="0"/>
                </a:spcBef>
              </a:pPr>
              <a:r>
                <a:rPr lang="en-US" b="true" sz="2392" spc="-9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570132" y="2184553"/>
              <a:ext cx="301626" cy="532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0"/>
                </a:lnSpc>
                <a:spcBef>
                  <a:spcPct val="0"/>
                </a:spcBef>
              </a:pPr>
              <a:r>
                <a:rPr lang="en-US" b="true" sz="2392" spc="-9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24" id="24"/>
            <p:cNvSpPr/>
            <p:nvPr/>
          </p:nvSpPr>
          <p:spPr>
            <a:xfrm>
              <a:off x="1032116" y="484599"/>
              <a:ext cx="0" cy="631250"/>
            </a:xfrm>
            <a:prstGeom prst="line">
              <a:avLst/>
            </a:prstGeom>
            <a:ln cap="flat" w="2729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5" id="25"/>
            <p:cNvSpPr/>
            <p:nvPr/>
          </p:nvSpPr>
          <p:spPr>
            <a:xfrm>
              <a:off x="1877265" y="484599"/>
              <a:ext cx="0" cy="631250"/>
            </a:xfrm>
            <a:prstGeom prst="line">
              <a:avLst/>
            </a:prstGeom>
            <a:ln cap="flat" w="2729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>
              <a:off x="2720944" y="484599"/>
              <a:ext cx="0" cy="631250"/>
            </a:xfrm>
            <a:prstGeom prst="line">
              <a:avLst/>
            </a:prstGeom>
            <a:ln cap="flat" w="2729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1032116" y="1600448"/>
              <a:ext cx="0" cy="631730"/>
            </a:xfrm>
            <a:prstGeom prst="line">
              <a:avLst/>
            </a:prstGeom>
            <a:ln cap="flat" w="2729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1877265" y="1600448"/>
              <a:ext cx="0" cy="631730"/>
            </a:xfrm>
            <a:prstGeom prst="line">
              <a:avLst/>
            </a:prstGeom>
            <a:ln cap="flat" w="2729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2720944" y="1600448"/>
              <a:ext cx="0" cy="631730"/>
            </a:xfrm>
            <a:prstGeom prst="line">
              <a:avLst/>
            </a:prstGeom>
            <a:ln cap="flat" w="2729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336909" y="1358149"/>
              <a:ext cx="502622" cy="0"/>
            </a:xfrm>
            <a:prstGeom prst="line">
              <a:avLst/>
            </a:prstGeom>
            <a:ln cap="flat" w="2729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1" id="31"/>
            <p:cNvSpPr txBox="true"/>
            <p:nvPr/>
          </p:nvSpPr>
          <p:spPr>
            <a:xfrm rot="0">
              <a:off x="0" y="1068224"/>
              <a:ext cx="301626" cy="532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0"/>
                </a:lnSpc>
                <a:spcBef>
                  <a:spcPct val="0"/>
                </a:spcBef>
              </a:pPr>
              <a:r>
                <a:rPr lang="en-US" b="true" sz="2392" spc="-9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32" id="32"/>
            <p:cNvSpPr/>
            <p:nvPr/>
          </p:nvSpPr>
          <p:spPr>
            <a:xfrm flipH="true">
              <a:off x="2914393" y="1358149"/>
              <a:ext cx="502622" cy="0"/>
            </a:xfrm>
            <a:prstGeom prst="line">
              <a:avLst/>
            </a:prstGeom>
            <a:ln cap="flat" w="2729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3" id="33"/>
            <p:cNvSpPr txBox="true"/>
            <p:nvPr/>
          </p:nvSpPr>
          <p:spPr>
            <a:xfrm rot="-10800000">
              <a:off x="3452299" y="1115849"/>
              <a:ext cx="301626" cy="532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0"/>
                </a:lnSpc>
                <a:spcBef>
                  <a:spcPct val="0"/>
                </a:spcBef>
              </a:pPr>
              <a:r>
                <a:rPr lang="en-US" b="true" sz="2392" spc="-9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34" id="34"/>
            <p:cNvSpPr/>
            <p:nvPr/>
          </p:nvSpPr>
          <p:spPr>
            <a:xfrm>
              <a:off x="1209610" y="1358388"/>
              <a:ext cx="502622" cy="0"/>
            </a:xfrm>
            <a:prstGeom prst="line">
              <a:avLst/>
            </a:prstGeom>
            <a:ln cap="flat" w="2729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5" id="35"/>
            <p:cNvSpPr/>
            <p:nvPr/>
          </p:nvSpPr>
          <p:spPr>
            <a:xfrm>
              <a:off x="2057152" y="1358149"/>
              <a:ext cx="502622" cy="0"/>
            </a:xfrm>
            <a:prstGeom prst="line">
              <a:avLst/>
            </a:prstGeom>
            <a:ln cap="flat" w="2729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16499" y="5215287"/>
            <a:ext cx="3594051" cy="3627768"/>
            <a:chOff x="0" y="0"/>
            <a:chExt cx="4676784" cy="472065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676784" cy="4720658"/>
            </a:xfrm>
            <a:custGeom>
              <a:avLst/>
              <a:gdLst/>
              <a:ahLst/>
              <a:cxnLst/>
              <a:rect r="r" b="b" t="t" l="l"/>
              <a:pathLst>
                <a:path h="4720658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667230"/>
                  </a:lnTo>
                  <a:cubicBezTo>
                    <a:pt x="4676784" y="4696738"/>
                    <a:pt x="4652863" y="4720658"/>
                    <a:pt x="4623356" y="4720658"/>
                  </a:cubicBezTo>
                  <a:lnTo>
                    <a:pt x="53428" y="4720658"/>
                  </a:lnTo>
                  <a:cubicBezTo>
                    <a:pt x="23921" y="4720658"/>
                    <a:pt x="0" y="4696738"/>
                    <a:pt x="0" y="4667230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4676784" cy="4739709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9" id="39"/>
          <p:cNvSpPr/>
          <p:nvPr/>
        </p:nvSpPr>
        <p:spPr>
          <a:xfrm flipV="true">
            <a:off x="116499" y="5682150"/>
            <a:ext cx="3594051" cy="23164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3856436" y="5187517"/>
            <a:ext cx="3594051" cy="3627768"/>
            <a:chOff x="0" y="0"/>
            <a:chExt cx="4676784" cy="472065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76784" cy="4720658"/>
            </a:xfrm>
            <a:custGeom>
              <a:avLst/>
              <a:gdLst/>
              <a:ahLst/>
              <a:cxnLst/>
              <a:rect r="r" b="b" t="t" l="l"/>
              <a:pathLst>
                <a:path h="4720658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667230"/>
                  </a:lnTo>
                  <a:cubicBezTo>
                    <a:pt x="4676784" y="4696738"/>
                    <a:pt x="4652863" y="4720658"/>
                    <a:pt x="4623356" y="4720658"/>
                  </a:cubicBezTo>
                  <a:lnTo>
                    <a:pt x="53428" y="4720658"/>
                  </a:lnTo>
                  <a:cubicBezTo>
                    <a:pt x="23921" y="4720658"/>
                    <a:pt x="0" y="4696738"/>
                    <a:pt x="0" y="4667230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4676784" cy="4768284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43" id="43"/>
          <p:cNvSpPr/>
          <p:nvPr/>
        </p:nvSpPr>
        <p:spPr>
          <a:xfrm>
            <a:off x="3856436" y="5677545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4" id="44"/>
          <p:cNvSpPr/>
          <p:nvPr/>
        </p:nvSpPr>
        <p:spPr>
          <a:xfrm flipH="false" flipV="false" rot="0">
            <a:off x="1375999" y="9552871"/>
            <a:ext cx="204424" cy="204424"/>
          </a:xfrm>
          <a:custGeom>
            <a:avLst/>
            <a:gdLst/>
            <a:ahLst/>
            <a:cxnLst/>
            <a:rect r="r" b="b" t="t" l="l"/>
            <a:pathLst>
              <a:path h="204424" w="204424">
                <a:moveTo>
                  <a:pt x="0" y="0"/>
                </a:moveTo>
                <a:lnTo>
                  <a:pt x="204424" y="0"/>
                </a:lnTo>
                <a:lnTo>
                  <a:pt x="204424" y="204424"/>
                </a:lnTo>
                <a:lnTo>
                  <a:pt x="0" y="204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4128796" y="9552871"/>
            <a:ext cx="205596" cy="205596"/>
          </a:xfrm>
          <a:custGeom>
            <a:avLst/>
            <a:gdLst/>
            <a:ahLst/>
            <a:cxnLst/>
            <a:rect r="r" b="b" t="t" l="l"/>
            <a:pathLst>
              <a:path h="205596" w="205596">
                <a:moveTo>
                  <a:pt x="0" y="0"/>
                </a:moveTo>
                <a:lnTo>
                  <a:pt x="205596" y="0"/>
                </a:lnTo>
                <a:lnTo>
                  <a:pt x="205596" y="205596"/>
                </a:lnTo>
                <a:lnTo>
                  <a:pt x="0" y="205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375999" y="9902595"/>
            <a:ext cx="204747" cy="204747"/>
          </a:xfrm>
          <a:custGeom>
            <a:avLst/>
            <a:gdLst/>
            <a:ahLst/>
            <a:cxnLst/>
            <a:rect r="r" b="b" t="t" l="l"/>
            <a:pathLst>
              <a:path h="204747" w="204747">
                <a:moveTo>
                  <a:pt x="0" y="0"/>
                </a:moveTo>
                <a:lnTo>
                  <a:pt x="204747" y="0"/>
                </a:lnTo>
                <a:lnTo>
                  <a:pt x="204747" y="204748"/>
                </a:lnTo>
                <a:lnTo>
                  <a:pt x="0" y="2047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4128796" y="9914266"/>
            <a:ext cx="204797" cy="204797"/>
          </a:xfrm>
          <a:custGeom>
            <a:avLst/>
            <a:gdLst/>
            <a:ahLst/>
            <a:cxnLst/>
            <a:rect r="r" b="b" t="t" l="l"/>
            <a:pathLst>
              <a:path h="204797" w="204797">
                <a:moveTo>
                  <a:pt x="0" y="0"/>
                </a:moveTo>
                <a:lnTo>
                  <a:pt x="204797" y="0"/>
                </a:lnTo>
                <a:lnTo>
                  <a:pt x="204797" y="204796"/>
                </a:lnTo>
                <a:lnTo>
                  <a:pt x="0" y="204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3614361" y="6161100"/>
            <a:ext cx="4078201" cy="1661966"/>
          </a:xfrm>
          <a:custGeom>
            <a:avLst/>
            <a:gdLst/>
            <a:ahLst/>
            <a:cxnLst/>
            <a:rect r="r" b="b" t="t" l="l"/>
            <a:pathLst>
              <a:path h="1661966" w="4078201">
                <a:moveTo>
                  <a:pt x="0" y="0"/>
                </a:moveTo>
                <a:lnTo>
                  <a:pt x="4078201" y="0"/>
                </a:lnTo>
                <a:lnTo>
                  <a:pt x="4078201" y="1661966"/>
                </a:lnTo>
                <a:lnTo>
                  <a:pt x="0" y="16619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269" r="0" b="-2269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615738" y="9571809"/>
            <a:ext cx="1598251" cy="183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7"/>
              </a:lnSpc>
              <a:spcBef>
                <a:spcPct val="0"/>
              </a:spcBef>
            </a:pPr>
            <a:r>
              <a:rPr lang="en-US" sz="1296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atom count verified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19143" y="157255"/>
            <a:ext cx="2617705" cy="60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  <a:spcBef>
                <a:spcPct val="0"/>
              </a:spcBef>
            </a:pPr>
            <a:r>
              <a:rPr lang="en-US" b="true" sz="3459" spc="-138">
                <a:solidFill>
                  <a:srgbClr val="000001"/>
                </a:solidFill>
                <a:latin typeface="Aileron Bold"/>
                <a:ea typeface="Aileron Bold"/>
                <a:cs typeface="Aileron Bold"/>
                <a:sym typeface="Aileron Bold"/>
              </a:rPr>
              <a:t>CARD 01 ―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496345" y="112924"/>
            <a:ext cx="2808220" cy="63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5"/>
              </a:lnSpc>
              <a:spcBef>
                <a:spcPct val="0"/>
              </a:spcBef>
            </a:pPr>
            <a:r>
              <a:rPr lang="en-US" sz="3753" spc="-150">
                <a:solidFill>
                  <a:srgbClr val="BD1B1B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PROPANE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715030" y="806054"/>
            <a:ext cx="4129940" cy="22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2"/>
              </a:lnSpc>
              <a:spcBef>
                <a:spcPct val="0"/>
              </a:spcBef>
            </a:pPr>
            <a:r>
              <a:rPr lang="en-US" b="true" sz="1600" spc="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“THE SIMPLE SKELETON”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622799" y="302949"/>
            <a:ext cx="87093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-92">
                <a:solidFill>
                  <a:srgbClr val="BD1B1B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(C₃H₈)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21545" y="1291744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1. MOLECULAR FORMULA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32262" y="2582882"/>
            <a:ext cx="1762524" cy="71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1"/>
              </a:lnSpc>
              <a:spcBef>
                <a:spcPct val="0"/>
              </a:spcBef>
            </a:pPr>
            <a:r>
              <a:rPr lang="en-US" b="true" sz="4158" spc="-16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C₃H₈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38378" y="3523935"/>
            <a:ext cx="2623076" cy="21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  <a:spcBef>
                <a:spcPct val="0"/>
              </a:spcBef>
            </a:pPr>
            <a:r>
              <a:rPr lang="en-US" b="true" sz="1257" spc="-50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3 C + 8 H = 11 atoms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061482" y="1291744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2</a:t>
            </a: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LEWIS STRUCTURE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6499" y="5307555"/>
            <a:ext cx="3572331" cy="25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0"/>
              </a:lnSpc>
              <a:spcBef>
                <a:spcPct val="0"/>
              </a:spcBef>
            </a:pPr>
            <a:r>
              <a:rPr lang="en-US" b="true" sz="1450" i="true" spc="-5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3</a:t>
            </a:r>
            <a:r>
              <a:rPr lang="en-US" b="true" sz="1450" i="true" spc="-5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CONDENSED STRUCTURAL FORMULA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78238" y="6662677"/>
            <a:ext cx="2997790" cy="66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15"/>
              </a:lnSpc>
              <a:spcBef>
                <a:spcPct val="0"/>
              </a:spcBef>
            </a:pPr>
            <a:r>
              <a:rPr lang="en-US" b="true" sz="3867" spc="-15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CH₃CH₂CH₃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061482" y="5217890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4</a:t>
            </a: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BOND-LINE FORMULA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205153" y="9128805"/>
            <a:ext cx="3149694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 i="true" spc="-6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VERIFICATION STRIP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377585" y="9571863"/>
            <a:ext cx="1331920" cy="184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  <a:spcBef>
                <a:spcPct val="0"/>
              </a:spcBef>
            </a:pPr>
            <a:r>
              <a:rPr lang="en-US" sz="1303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v</a:t>
            </a:r>
            <a:r>
              <a:rPr lang="en-US" sz="1303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alence checked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626893" y="9921548"/>
            <a:ext cx="1600778" cy="183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9"/>
              </a:lnSpc>
              <a:spcBef>
                <a:spcPct val="0"/>
              </a:spcBef>
            </a:pPr>
            <a:r>
              <a:rPr lang="en-US" sz="1298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bo</a:t>
            </a:r>
            <a:r>
              <a:rPr lang="en-US" sz="1298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nd order checked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4376579" y="9933220"/>
            <a:ext cx="2246837" cy="18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9"/>
              </a:lnSpc>
              <a:spcBef>
                <a:spcPct val="0"/>
              </a:spcBef>
            </a:pPr>
            <a:r>
              <a:rPr lang="en-US" sz="1298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same co</a:t>
            </a:r>
            <a:r>
              <a:rPr lang="en-US" sz="1298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nnectivity confirmed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122518" y="7974497"/>
            <a:ext cx="3061887" cy="44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0"/>
              </a:lnSpc>
            </a:pPr>
            <a:r>
              <a:rPr lang="en-US" b="true" sz="967" spc="-38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CARBON</a:t>
            </a:r>
            <a:r>
              <a:rPr lang="en-US" b="true" sz="967" spc="-38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 TETRAVALENCY</a:t>
            </a:r>
          </a:p>
          <a:p>
            <a:pPr algn="ctr">
              <a:lnSpc>
                <a:spcPts val="1160"/>
              </a:lnSpc>
              <a:spcBef>
                <a:spcPct val="0"/>
              </a:spcBef>
            </a:pPr>
            <a:r>
              <a:rPr lang="en-US" b="true" sz="967" spc="-38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“Each carbon forms four bonds, giving  propane its stable three-carbon chain.”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387010" y="10355145"/>
            <a:ext cx="281880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 i="true" spc="-48">
                <a:solidFill>
                  <a:srgbClr val="700C0C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ChE  Connection: LPG and Fuel Processing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566000" y="156600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7560000"/>
                </a:moveTo>
                <a:lnTo>
                  <a:pt x="0" y="0"/>
                </a:ln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close/>
              </a:path>
            </a:pathLst>
          </a:custGeom>
          <a:blipFill>
            <a:blip r:embed="rId2"/>
            <a:stretch>
              <a:fillRect l="-3063" t="0" r="-306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498" y="9052605"/>
            <a:ext cx="7255003" cy="1226340"/>
            <a:chOff x="0" y="0"/>
            <a:chExt cx="9128989" cy="15431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28989" cy="1543107"/>
            </a:xfrm>
            <a:custGeom>
              <a:avLst/>
              <a:gdLst/>
              <a:ahLst/>
              <a:cxnLst/>
              <a:rect r="r" b="b" t="t" l="l"/>
              <a:pathLst>
                <a:path h="1543107" w="9128989">
                  <a:moveTo>
                    <a:pt x="26468" y="0"/>
                  </a:moveTo>
                  <a:lnTo>
                    <a:pt x="9102521" y="0"/>
                  </a:lnTo>
                  <a:cubicBezTo>
                    <a:pt x="9109541" y="0"/>
                    <a:pt x="9116273" y="2789"/>
                    <a:pt x="9121237" y="7752"/>
                  </a:cubicBezTo>
                  <a:cubicBezTo>
                    <a:pt x="9126201" y="12716"/>
                    <a:pt x="9128989" y="19448"/>
                    <a:pt x="9128989" y="26468"/>
                  </a:cubicBezTo>
                  <a:lnTo>
                    <a:pt x="9128989" y="1516639"/>
                  </a:lnTo>
                  <a:cubicBezTo>
                    <a:pt x="9128989" y="1523658"/>
                    <a:pt x="9126201" y="1530391"/>
                    <a:pt x="9121237" y="1535354"/>
                  </a:cubicBezTo>
                  <a:cubicBezTo>
                    <a:pt x="9116273" y="1540318"/>
                    <a:pt x="9109541" y="1543107"/>
                    <a:pt x="9102521" y="1543107"/>
                  </a:cubicBezTo>
                  <a:lnTo>
                    <a:pt x="26468" y="1543107"/>
                  </a:lnTo>
                  <a:cubicBezTo>
                    <a:pt x="11850" y="1543107"/>
                    <a:pt x="0" y="1531257"/>
                    <a:pt x="0" y="1516639"/>
                  </a:cubicBezTo>
                  <a:lnTo>
                    <a:pt x="0" y="26468"/>
                  </a:lnTo>
                  <a:cubicBezTo>
                    <a:pt x="0" y="11850"/>
                    <a:pt x="11850" y="0"/>
                    <a:pt x="2646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9128989" cy="1562157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6499" y="1234171"/>
            <a:ext cx="3594051" cy="3745667"/>
            <a:chOff x="0" y="0"/>
            <a:chExt cx="4676784" cy="4874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76784" cy="4874075"/>
            </a:xfrm>
            <a:custGeom>
              <a:avLst/>
              <a:gdLst/>
              <a:ahLst/>
              <a:cxnLst/>
              <a:rect r="r" b="b" t="t" l="l"/>
              <a:pathLst>
                <a:path h="4874075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820647"/>
                  </a:lnTo>
                  <a:cubicBezTo>
                    <a:pt x="4676784" y="4850154"/>
                    <a:pt x="4652863" y="4874075"/>
                    <a:pt x="4623356" y="4874075"/>
                  </a:cubicBezTo>
                  <a:lnTo>
                    <a:pt x="53428" y="4874075"/>
                  </a:lnTo>
                  <a:cubicBezTo>
                    <a:pt x="23921" y="4874075"/>
                    <a:pt x="0" y="4850154"/>
                    <a:pt x="0" y="4820647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4676784" cy="4893125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16499" y="1746298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3856436" y="1260876"/>
            <a:ext cx="3594051" cy="3745667"/>
            <a:chOff x="0" y="0"/>
            <a:chExt cx="4676784" cy="48740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76784" cy="4874075"/>
            </a:xfrm>
            <a:custGeom>
              <a:avLst/>
              <a:gdLst/>
              <a:ahLst/>
              <a:cxnLst/>
              <a:rect r="r" b="b" t="t" l="l"/>
              <a:pathLst>
                <a:path h="4874075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820647"/>
                  </a:lnTo>
                  <a:cubicBezTo>
                    <a:pt x="4676784" y="4850154"/>
                    <a:pt x="4652863" y="4874075"/>
                    <a:pt x="4623356" y="4874075"/>
                  </a:cubicBezTo>
                  <a:lnTo>
                    <a:pt x="53428" y="4874075"/>
                  </a:lnTo>
                  <a:cubicBezTo>
                    <a:pt x="23921" y="4874075"/>
                    <a:pt x="0" y="4850154"/>
                    <a:pt x="0" y="4820647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676784" cy="4921700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3856436" y="1750903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16499" y="5215287"/>
            <a:ext cx="3594051" cy="3627768"/>
            <a:chOff x="0" y="0"/>
            <a:chExt cx="4676784" cy="47206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76784" cy="4720658"/>
            </a:xfrm>
            <a:custGeom>
              <a:avLst/>
              <a:gdLst/>
              <a:ahLst/>
              <a:cxnLst/>
              <a:rect r="r" b="b" t="t" l="l"/>
              <a:pathLst>
                <a:path h="4720658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667230"/>
                  </a:lnTo>
                  <a:cubicBezTo>
                    <a:pt x="4676784" y="4696738"/>
                    <a:pt x="4652863" y="4720658"/>
                    <a:pt x="4623356" y="4720658"/>
                  </a:cubicBezTo>
                  <a:lnTo>
                    <a:pt x="53428" y="4720658"/>
                  </a:lnTo>
                  <a:cubicBezTo>
                    <a:pt x="23921" y="4720658"/>
                    <a:pt x="0" y="4696738"/>
                    <a:pt x="0" y="4667230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4676784" cy="4739709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116499" y="5682150"/>
            <a:ext cx="3594051" cy="23164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3856436" y="5187517"/>
            <a:ext cx="3594051" cy="3627768"/>
            <a:chOff x="0" y="0"/>
            <a:chExt cx="4676784" cy="47206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76784" cy="4720658"/>
            </a:xfrm>
            <a:custGeom>
              <a:avLst/>
              <a:gdLst/>
              <a:ahLst/>
              <a:cxnLst/>
              <a:rect r="r" b="b" t="t" l="l"/>
              <a:pathLst>
                <a:path h="4720658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667230"/>
                  </a:lnTo>
                  <a:cubicBezTo>
                    <a:pt x="4676784" y="4696738"/>
                    <a:pt x="4652863" y="4720658"/>
                    <a:pt x="4623356" y="4720658"/>
                  </a:cubicBezTo>
                  <a:lnTo>
                    <a:pt x="53428" y="4720658"/>
                  </a:lnTo>
                  <a:cubicBezTo>
                    <a:pt x="23921" y="4720658"/>
                    <a:pt x="0" y="4696738"/>
                    <a:pt x="0" y="4667230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676784" cy="4768284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3856436" y="5677545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375999" y="9552871"/>
            <a:ext cx="204424" cy="204424"/>
          </a:xfrm>
          <a:custGeom>
            <a:avLst/>
            <a:gdLst/>
            <a:ahLst/>
            <a:cxnLst/>
            <a:rect r="r" b="b" t="t" l="l"/>
            <a:pathLst>
              <a:path h="204424" w="204424">
                <a:moveTo>
                  <a:pt x="0" y="0"/>
                </a:moveTo>
                <a:lnTo>
                  <a:pt x="204424" y="0"/>
                </a:lnTo>
                <a:lnTo>
                  <a:pt x="204424" y="204424"/>
                </a:lnTo>
                <a:lnTo>
                  <a:pt x="0" y="204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128796" y="9552871"/>
            <a:ext cx="205596" cy="205596"/>
          </a:xfrm>
          <a:custGeom>
            <a:avLst/>
            <a:gdLst/>
            <a:ahLst/>
            <a:cxnLst/>
            <a:rect r="r" b="b" t="t" l="l"/>
            <a:pathLst>
              <a:path h="205596" w="205596">
                <a:moveTo>
                  <a:pt x="0" y="0"/>
                </a:moveTo>
                <a:lnTo>
                  <a:pt x="205596" y="0"/>
                </a:lnTo>
                <a:lnTo>
                  <a:pt x="205596" y="205596"/>
                </a:lnTo>
                <a:lnTo>
                  <a:pt x="0" y="205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75999" y="9902595"/>
            <a:ext cx="204747" cy="204747"/>
          </a:xfrm>
          <a:custGeom>
            <a:avLst/>
            <a:gdLst/>
            <a:ahLst/>
            <a:cxnLst/>
            <a:rect r="r" b="b" t="t" l="l"/>
            <a:pathLst>
              <a:path h="204747" w="204747">
                <a:moveTo>
                  <a:pt x="0" y="0"/>
                </a:moveTo>
                <a:lnTo>
                  <a:pt x="204747" y="0"/>
                </a:lnTo>
                <a:lnTo>
                  <a:pt x="204747" y="204748"/>
                </a:lnTo>
                <a:lnTo>
                  <a:pt x="0" y="2047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128796" y="9914266"/>
            <a:ext cx="204797" cy="204797"/>
          </a:xfrm>
          <a:custGeom>
            <a:avLst/>
            <a:gdLst/>
            <a:ahLst/>
            <a:cxnLst/>
            <a:rect r="r" b="b" t="t" l="l"/>
            <a:pathLst>
              <a:path h="204797" w="204797">
                <a:moveTo>
                  <a:pt x="0" y="0"/>
                </a:moveTo>
                <a:lnTo>
                  <a:pt x="204797" y="0"/>
                </a:lnTo>
                <a:lnTo>
                  <a:pt x="204797" y="204796"/>
                </a:lnTo>
                <a:lnTo>
                  <a:pt x="0" y="204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4333593" y="2317958"/>
            <a:ext cx="2713444" cy="1963764"/>
            <a:chOff x="0" y="0"/>
            <a:chExt cx="3617926" cy="2618352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849375" y="-47625"/>
              <a:ext cx="290698" cy="514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8"/>
                </a:lnSpc>
                <a:spcBef>
                  <a:spcPct val="0"/>
                </a:spcBef>
              </a:pPr>
              <a:r>
                <a:rPr lang="en-US" b="true" sz="2306" spc="-9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663905" y="-47625"/>
              <a:ext cx="290698" cy="514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8"/>
                </a:lnSpc>
                <a:spcBef>
                  <a:spcPct val="0"/>
                </a:spcBef>
              </a:pPr>
              <a:r>
                <a:rPr lang="en-US" b="true" sz="2306" spc="-9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856320" y="1027799"/>
              <a:ext cx="276809" cy="514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8"/>
                </a:lnSpc>
                <a:spcBef>
                  <a:spcPct val="0"/>
                </a:spcBef>
              </a:pPr>
              <a:r>
                <a:rPr lang="en-US" b="true" sz="2306" spc="-9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670850" y="1027799"/>
              <a:ext cx="276809" cy="514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8"/>
                </a:lnSpc>
                <a:spcBef>
                  <a:spcPct val="0"/>
                </a:spcBef>
              </a:pPr>
              <a:r>
                <a:rPr lang="en-US" b="true" sz="2306" spc="-9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2483965" y="1027799"/>
              <a:ext cx="276809" cy="514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8"/>
                </a:lnSpc>
                <a:spcBef>
                  <a:spcPct val="0"/>
                </a:spcBef>
              </a:pPr>
              <a:r>
                <a:rPr lang="en-US" b="true" sz="2306" spc="-9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O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849375" y="2103685"/>
              <a:ext cx="290698" cy="514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8"/>
                </a:lnSpc>
                <a:spcBef>
                  <a:spcPct val="0"/>
                </a:spcBef>
              </a:pPr>
              <a:r>
                <a:rPr lang="en-US" b="true" sz="2306" spc="-9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663905" y="2103685"/>
              <a:ext cx="290698" cy="514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8"/>
                </a:lnSpc>
                <a:spcBef>
                  <a:spcPct val="0"/>
                </a:spcBef>
              </a:pPr>
              <a:r>
                <a:rPr lang="en-US" b="true" sz="2306" spc="-9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34" id="34"/>
            <p:cNvSpPr/>
            <p:nvPr/>
          </p:nvSpPr>
          <p:spPr>
            <a:xfrm>
              <a:off x="994724" y="467043"/>
              <a:ext cx="0" cy="608381"/>
            </a:xfrm>
            <a:prstGeom prst="line">
              <a:avLst/>
            </a:prstGeom>
            <a:ln cap="flat" w="2719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5" id="35"/>
            <p:cNvSpPr/>
            <p:nvPr/>
          </p:nvSpPr>
          <p:spPr>
            <a:xfrm>
              <a:off x="1809254" y="467043"/>
              <a:ext cx="0" cy="608381"/>
            </a:xfrm>
            <a:prstGeom prst="line">
              <a:avLst/>
            </a:prstGeom>
            <a:ln cap="flat" w="2719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6" id="36"/>
            <p:cNvSpPr/>
            <p:nvPr/>
          </p:nvSpPr>
          <p:spPr>
            <a:xfrm>
              <a:off x="994724" y="1542466"/>
              <a:ext cx="0" cy="608843"/>
            </a:xfrm>
            <a:prstGeom prst="line">
              <a:avLst/>
            </a:prstGeom>
            <a:ln cap="flat" w="2719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7" id="37"/>
            <p:cNvSpPr/>
            <p:nvPr/>
          </p:nvSpPr>
          <p:spPr>
            <a:xfrm>
              <a:off x="1809254" y="1542466"/>
              <a:ext cx="0" cy="608843"/>
            </a:xfrm>
            <a:prstGeom prst="line">
              <a:avLst/>
            </a:prstGeom>
            <a:ln cap="flat" w="2719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>
              <a:off x="324703" y="1308945"/>
              <a:ext cx="484413" cy="0"/>
            </a:xfrm>
            <a:prstGeom prst="line">
              <a:avLst/>
            </a:prstGeom>
            <a:ln cap="flat" w="2719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9" id="39"/>
            <p:cNvSpPr txBox="true"/>
            <p:nvPr/>
          </p:nvSpPr>
          <p:spPr>
            <a:xfrm rot="0">
              <a:off x="0" y="1027799"/>
              <a:ext cx="290698" cy="514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8"/>
                </a:lnSpc>
                <a:spcBef>
                  <a:spcPct val="0"/>
                </a:spcBef>
              </a:pPr>
              <a:r>
                <a:rPr lang="en-US" b="true" sz="2306" spc="-9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40" id="40"/>
            <p:cNvSpPr/>
            <p:nvPr/>
          </p:nvSpPr>
          <p:spPr>
            <a:xfrm flipH="true">
              <a:off x="2808809" y="1308945"/>
              <a:ext cx="484413" cy="0"/>
            </a:xfrm>
            <a:prstGeom prst="line">
              <a:avLst/>
            </a:prstGeom>
            <a:ln cap="flat" w="2719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1" id="41"/>
            <p:cNvSpPr txBox="true"/>
            <p:nvPr/>
          </p:nvSpPr>
          <p:spPr>
            <a:xfrm rot="-10800000">
              <a:off x="3327227" y="1075424"/>
              <a:ext cx="290698" cy="514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8"/>
                </a:lnSpc>
                <a:spcBef>
                  <a:spcPct val="0"/>
                </a:spcBef>
              </a:pPr>
              <a:r>
                <a:rPr lang="en-US" b="true" sz="2306" spc="-9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42" id="42"/>
            <p:cNvSpPr/>
            <p:nvPr/>
          </p:nvSpPr>
          <p:spPr>
            <a:xfrm>
              <a:off x="1165787" y="1309176"/>
              <a:ext cx="484413" cy="0"/>
            </a:xfrm>
            <a:prstGeom prst="line">
              <a:avLst/>
            </a:prstGeom>
            <a:ln cap="flat" w="2719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>
              <a:off x="1982625" y="1308945"/>
              <a:ext cx="484413" cy="0"/>
            </a:xfrm>
            <a:prstGeom prst="line">
              <a:avLst/>
            </a:prstGeom>
            <a:ln cap="flat" w="2719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4" id="44"/>
            <p:cNvSpPr txBox="true"/>
            <p:nvPr/>
          </p:nvSpPr>
          <p:spPr>
            <a:xfrm rot="0">
              <a:off x="2496828" y="784390"/>
              <a:ext cx="120763" cy="4098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0"/>
                </a:lnSpc>
                <a:spcBef>
                  <a:spcPct val="0"/>
                </a:spcBef>
              </a:pPr>
              <a:r>
                <a:rPr lang="en-US" b="true" sz="1872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2627148" y="784390"/>
              <a:ext cx="120763" cy="4098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0"/>
                </a:lnSpc>
                <a:spcBef>
                  <a:spcPct val="0"/>
                </a:spcBef>
              </a:pPr>
              <a:r>
                <a:rPr lang="en-US" b="true" sz="1872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2496828" y="1217148"/>
              <a:ext cx="120763" cy="4098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0"/>
                </a:lnSpc>
                <a:spcBef>
                  <a:spcPct val="0"/>
                </a:spcBef>
              </a:pPr>
              <a:r>
                <a:rPr lang="en-US" b="true" sz="1872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2627148" y="1217148"/>
              <a:ext cx="120763" cy="4098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0"/>
                </a:lnSpc>
                <a:spcBef>
                  <a:spcPct val="0"/>
                </a:spcBef>
              </a:pPr>
              <a:r>
                <a:rPr lang="en-US" b="true" sz="1872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3892436" y="6244282"/>
            <a:ext cx="3476371" cy="1645942"/>
          </a:xfrm>
          <a:custGeom>
            <a:avLst/>
            <a:gdLst/>
            <a:ahLst/>
            <a:cxnLst/>
            <a:rect r="r" b="b" t="t" l="l"/>
            <a:pathLst>
              <a:path h="1645942" w="3476371">
                <a:moveTo>
                  <a:pt x="0" y="0"/>
                </a:moveTo>
                <a:lnTo>
                  <a:pt x="3476371" y="0"/>
                </a:lnTo>
                <a:lnTo>
                  <a:pt x="3476371" y="1645942"/>
                </a:lnTo>
                <a:lnTo>
                  <a:pt x="0" y="16459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7857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615738" y="9571809"/>
            <a:ext cx="1598251" cy="183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7"/>
              </a:lnSpc>
              <a:spcBef>
                <a:spcPct val="0"/>
              </a:spcBef>
            </a:pPr>
            <a:r>
              <a:rPr lang="en-US" sz="1296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atom count verified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91748" y="129882"/>
            <a:ext cx="2617705" cy="60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  <a:spcBef>
                <a:spcPct val="0"/>
              </a:spcBef>
            </a:pPr>
            <a:r>
              <a:rPr lang="en-US" b="true" sz="3459" spc="-138">
                <a:solidFill>
                  <a:srgbClr val="000001"/>
                </a:solidFill>
                <a:latin typeface="Aileron Bold"/>
                <a:ea typeface="Aileron Bold"/>
                <a:cs typeface="Aileron Bold"/>
                <a:sym typeface="Aileron Bold"/>
              </a:rPr>
              <a:t>CARD 02 ―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368950" y="85551"/>
            <a:ext cx="2808220" cy="63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5"/>
              </a:lnSpc>
              <a:spcBef>
                <a:spcPct val="0"/>
              </a:spcBef>
            </a:pPr>
            <a:r>
              <a:rPr lang="en-US" sz="3753" spc="-150">
                <a:solidFill>
                  <a:srgbClr val="BD1B1B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ETHANOL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715030" y="798180"/>
            <a:ext cx="4129940" cy="22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2"/>
              </a:lnSpc>
              <a:spcBef>
                <a:spcPct val="0"/>
              </a:spcBef>
            </a:pPr>
            <a:r>
              <a:rPr lang="en-US" b="true" sz="1600" spc="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“FIRST HETEROATOM”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531404" y="240067"/>
            <a:ext cx="1089719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-92">
                <a:solidFill>
                  <a:srgbClr val="BD1B1B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(C₂H₆O)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21545" y="1291744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1. MOLECULAR FORMULA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32262" y="2582882"/>
            <a:ext cx="1762524" cy="71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1"/>
              </a:lnSpc>
              <a:spcBef>
                <a:spcPct val="0"/>
              </a:spcBef>
            </a:pPr>
            <a:r>
              <a:rPr lang="en-US" b="true" sz="4158" spc="-16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C₂H₆O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38378" y="3523935"/>
            <a:ext cx="2623076" cy="21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  <a:spcBef>
                <a:spcPct val="0"/>
              </a:spcBef>
            </a:pPr>
            <a:r>
              <a:rPr lang="en-US" b="true" sz="1257" spc="-50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2 C + 6 H </a:t>
            </a:r>
            <a:r>
              <a:rPr lang="en-US" b="true" sz="1257" spc="-50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+ 1 O = 9 atoms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061482" y="1291744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2</a:t>
            </a: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LEWIS STRUCTURE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6499" y="5307555"/>
            <a:ext cx="3572331" cy="25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0"/>
              </a:lnSpc>
              <a:spcBef>
                <a:spcPct val="0"/>
              </a:spcBef>
            </a:pPr>
            <a:r>
              <a:rPr lang="en-US" b="true" sz="1450" i="true" spc="-5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3</a:t>
            </a:r>
            <a:r>
              <a:rPr lang="en-US" b="true" sz="1450" i="true" spc="-5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CONDENSED STRUCTURAL FORMULA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78238" y="6662677"/>
            <a:ext cx="2997790" cy="66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15"/>
              </a:lnSpc>
              <a:spcBef>
                <a:spcPct val="0"/>
              </a:spcBef>
            </a:pPr>
            <a:r>
              <a:rPr lang="en-US" b="true" sz="3867" spc="-15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CH₃CH₂OH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061482" y="5217890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4</a:t>
            </a: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BOND-LINE FORMULA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205153" y="9128805"/>
            <a:ext cx="3149694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 i="true" spc="-6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VERIFICATION STRIP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377585" y="9571863"/>
            <a:ext cx="1331920" cy="184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  <a:spcBef>
                <a:spcPct val="0"/>
              </a:spcBef>
            </a:pPr>
            <a:r>
              <a:rPr lang="en-US" sz="1303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v</a:t>
            </a:r>
            <a:r>
              <a:rPr lang="en-US" sz="1303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alence checked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626893" y="9921548"/>
            <a:ext cx="1600778" cy="183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9"/>
              </a:lnSpc>
              <a:spcBef>
                <a:spcPct val="0"/>
              </a:spcBef>
            </a:pPr>
            <a:r>
              <a:rPr lang="en-US" sz="1298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bo</a:t>
            </a:r>
            <a:r>
              <a:rPr lang="en-US" sz="1298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nd order checked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4376579" y="9933220"/>
            <a:ext cx="2246837" cy="18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9"/>
              </a:lnSpc>
              <a:spcBef>
                <a:spcPct val="0"/>
              </a:spcBef>
            </a:pPr>
            <a:r>
              <a:rPr lang="en-US" sz="1298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same co</a:t>
            </a:r>
            <a:r>
              <a:rPr lang="en-US" sz="1298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nnectivity confirmed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122518" y="7930424"/>
            <a:ext cx="3061887" cy="44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0"/>
              </a:lnSpc>
              <a:spcBef>
                <a:spcPct val="0"/>
              </a:spcBef>
            </a:pPr>
            <a:r>
              <a:rPr lang="en-US" b="true" sz="967" spc="-38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Ethanol features an oxygen atom that forms two single bonds and holds two lone pairs, while its –OH group signifies the alcohol functional group. 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14700" y="10355145"/>
            <a:ext cx="433060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 i="true" spc="-48">
                <a:solidFill>
                  <a:srgbClr val="700C0C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ChE  Connection: Fermentation, Distillation, Solvents, and Biofuels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566000" y="156600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7560000"/>
                </a:moveTo>
                <a:lnTo>
                  <a:pt x="0" y="0"/>
                </a:ln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close/>
              </a:path>
            </a:pathLst>
          </a:custGeom>
          <a:blipFill>
            <a:blip r:embed="rId2"/>
            <a:stretch>
              <a:fillRect l="-3063" t="0" r="-306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499" y="1577558"/>
            <a:ext cx="3594051" cy="3745667"/>
            <a:chOff x="0" y="0"/>
            <a:chExt cx="4676784" cy="48740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76784" cy="4874075"/>
            </a:xfrm>
            <a:custGeom>
              <a:avLst/>
              <a:gdLst/>
              <a:ahLst/>
              <a:cxnLst/>
              <a:rect r="r" b="b" t="t" l="l"/>
              <a:pathLst>
                <a:path h="4874075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820647"/>
                  </a:lnTo>
                  <a:cubicBezTo>
                    <a:pt x="4676784" y="4850154"/>
                    <a:pt x="4652863" y="4874075"/>
                    <a:pt x="4623356" y="4874075"/>
                  </a:cubicBezTo>
                  <a:lnTo>
                    <a:pt x="53428" y="4874075"/>
                  </a:lnTo>
                  <a:cubicBezTo>
                    <a:pt x="23921" y="4874075"/>
                    <a:pt x="0" y="4850154"/>
                    <a:pt x="0" y="4820647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676784" cy="4893125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16499" y="2089685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3856436" y="1604263"/>
            <a:ext cx="3594051" cy="3745667"/>
            <a:chOff x="0" y="0"/>
            <a:chExt cx="4676784" cy="48740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76784" cy="4874075"/>
            </a:xfrm>
            <a:custGeom>
              <a:avLst/>
              <a:gdLst/>
              <a:ahLst/>
              <a:cxnLst/>
              <a:rect r="r" b="b" t="t" l="l"/>
              <a:pathLst>
                <a:path h="4874075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820647"/>
                  </a:lnTo>
                  <a:cubicBezTo>
                    <a:pt x="4676784" y="4850154"/>
                    <a:pt x="4652863" y="4874075"/>
                    <a:pt x="4623356" y="4874075"/>
                  </a:cubicBezTo>
                  <a:lnTo>
                    <a:pt x="53428" y="4874075"/>
                  </a:lnTo>
                  <a:cubicBezTo>
                    <a:pt x="23921" y="4874075"/>
                    <a:pt x="0" y="4850154"/>
                    <a:pt x="0" y="4820647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676784" cy="4921700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0" id="10"/>
          <p:cNvSpPr/>
          <p:nvPr/>
        </p:nvSpPr>
        <p:spPr>
          <a:xfrm>
            <a:off x="3856436" y="2094290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16499" y="5558674"/>
            <a:ext cx="3594051" cy="3627768"/>
            <a:chOff x="0" y="0"/>
            <a:chExt cx="4676784" cy="47206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76784" cy="4720658"/>
            </a:xfrm>
            <a:custGeom>
              <a:avLst/>
              <a:gdLst/>
              <a:ahLst/>
              <a:cxnLst/>
              <a:rect r="r" b="b" t="t" l="l"/>
              <a:pathLst>
                <a:path h="4720658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667230"/>
                  </a:lnTo>
                  <a:cubicBezTo>
                    <a:pt x="4676784" y="4696738"/>
                    <a:pt x="4652863" y="4720658"/>
                    <a:pt x="4623356" y="4720658"/>
                  </a:cubicBezTo>
                  <a:lnTo>
                    <a:pt x="53428" y="4720658"/>
                  </a:lnTo>
                  <a:cubicBezTo>
                    <a:pt x="23921" y="4720658"/>
                    <a:pt x="0" y="4696738"/>
                    <a:pt x="0" y="4667230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676784" cy="4739709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116499" y="6025537"/>
            <a:ext cx="3594051" cy="23164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3856436" y="5530905"/>
            <a:ext cx="3594051" cy="3627768"/>
            <a:chOff x="0" y="0"/>
            <a:chExt cx="4676784" cy="47206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76784" cy="4720658"/>
            </a:xfrm>
            <a:custGeom>
              <a:avLst/>
              <a:gdLst/>
              <a:ahLst/>
              <a:cxnLst/>
              <a:rect r="r" b="b" t="t" l="l"/>
              <a:pathLst>
                <a:path h="4720658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667230"/>
                  </a:lnTo>
                  <a:cubicBezTo>
                    <a:pt x="4676784" y="4696738"/>
                    <a:pt x="4652863" y="4720658"/>
                    <a:pt x="4623356" y="4720658"/>
                  </a:cubicBezTo>
                  <a:lnTo>
                    <a:pt x="53428" y="4720658"/>
                  </a:lnTo>
                  <a:cubicBezTo>
                    <a:pt x="23921" y="4720658"/>
                    <a:pt x="0" y="4696738"/>
                    <a:pt x="0" y="4667230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4676784" cy="4768284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3856436" y="6020932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4239057" y="2573141"/>
            <a:ext cx="2828807" cy="2140172"/>
            <a:chOff x="0" y="0"/>
            <a:chExt cx="3771743" cy="2853563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885487" y="-57150"/>
              <a:ext cx="303057" cy="566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8"/>
                </a:lnSpc>
                <a:spcBef>
                  <a:spcPct val="0"/>
                </a:spcBef>
              </a:pPr>
              <a:r>
                <a:rPr lang="en-US" b="true" sz="2513" spc="-10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582331" y="-57150"/>
              <a:ext cx="303057" cy="566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8"/>
                </a:lnSpc>
                <a:spcBef>
                  <a:spcPct val="0"/>
                </a:spcBef>
              </a:pPr>
              <a:r>
                <a:rPr lang="en-US" b="true" sz="2513" spc="-10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892727" y="1114881"/>
              <a:ext cx="288577" cy="566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8"/>
                </a:lnSpc>
                <a:spcBef>
                  <a:spcPct val="0"/>
                </a:spcBef>
              </a:pPr>
              <a:r>
                <a:rPr lang="en-US" b="true" sz="2513" spc="-10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741887" y="1114881"/>
              <a:ext cx="288577" cy="566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8"/>
                </a:lnSpc>
                <a:spcBef>
                  <a:spcPct val="0"/>
                </a:spcBef>
              </a:pPr>
              <a:r>
                <a:rPr lang="en-US" b="true" sz="2513" spc="-10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589572" y="1114881"/>
              <a:ext cx="288577" cy="566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8"/>
                </a:lnSpc>
                <a:spcBef>
                  <a:spcPct val="0"/>
                </a:spcBef>
              </a:pPr>
              <a:r>
                <a:rPr lang="en-US" b="true" sz="2513" spc="-10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885487" y="2287415"/>
              <a:ext cx="303057" cy="566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8"/>
                </a:lnSpc>
                <a:spcBef>
                  <a:spcPct val="0"/>
                </a:spcBef>
              </a:pPr>
              <a:r>
                <a:rPr lang="en-US" b="true" sz="2513" spc="-10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582331" y="2287415"/>
              <a:ext cx="303057" cy="566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8"/>
                </a:lnSpc>
                <a:spcBef>
                  <a:spcPct val="0"/>
                </a:spcBef>
              </a:pPr>
              <a:r>
                <a:rPr lang="en-US" b="true" sz="2513" spc="-10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27" id="27"/>
            <p:cNvSpPr/>
            <p:nvPr/>
          </p:nvSpPr>
          <p:spPr>
            <a:xfrm>
              <a:off x="1037015" y="508998"/>
              <a:ext cx="0" cy="663033"/>
            </a:xfrm>
            <a:prstGeom prst="line">
              <a:avLst/>
            </a:prstGeom>
            <a:ln cap="flat" w="2503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1822119" y="624087"/>
              <a:ext cx="0" cy="577156"/>
            </a:xfrm>
            <a:prstGeom prst="line">
              <a:avLst/>
            </a:prstGeom>
            <a:ln cap="flat" w="2503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2733860" y="508998"/>
              <a:ext cx="0" cy="663033"/>
            </a:xfrm>
            <a:prstGeom prst="line">
              <a:avLst/>
            </a:prstGeom>
            <a:ln cap="flat" w="2503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 flipH="true">
              <a:off x="1037015" y="1681028"/>
              <a:ext cx="0" cy="663537"/>
            </a:xfrm>
            <a:prstGeom prst="line">
              <a:avLst/>
            </a:prstGeom>
            <a:ln cap="flat" w="2503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1957103" y="624087"/>
              <a:ext cx="0" cy="577156"/>
            </a:xfrm>
            <a:prstGeom prst="line">
              <a:avLst/>
            </a:prstGeom>
            <a:ln cap="flat" w="2503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2733860" y="1681028"/>
              <a:ext cx="0" cy="663537"/>
            </a:xfrm>
            <a:prstGeom prst="line">
              <a:avLst/>
            </a:prstGeom>
            <a:ln cap="flat" w="2503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3" id="33"/>
            <p:cNvSpPr/>
            <p:nvPr/>
          </p:nvSpPr>
          <p:spPr>
            <a:xfrm>
              <a:off x="338508" y="1426530"/>
              <a:ext cx="505008" cy="0"/>
            </a:xfrm>
            <a:prstGeom prst="line">
              <a:avLst/>
            </a:prstGeom>
            <a:ln cap="flat" w="2503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4" id="34"/>
            <p:cNvSpPr txBox="true"/>
            <p:nvPr/>
          </p:nvSpPr>
          <p:spPr>
            <a:xfrm rot="0">
              <a:off x="0" y="1114881"/>
              <a:ext cx="303057" cy="566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8"/>
                </a:lnSpc>
                <a:spcBef>
                  <a:spcPct val="0"/>
                </a:spcBef>
              </a:pPr>
              <a:r>
                <a:rPr lang="en-US" b="true" sz="2513" spc="-10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35" id="35"/>
            <p:cNvSpPr/>
            <p:nvPr/>
          </p:nvSpPr>
          <p:spPr>
            <a:xfrm flipH="true">
              <a:off x="2928227" y="1426530"/>
              <a:ext cx="505008" cy="0"/>
            </a:xfrm>
            <a:prstGeom prst="line">
              <a:avLst/>
            </a:prstGeom>
            <a:ln cap="flat" w="2503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6" id="36"/>
            <p:cNvSpPr txBox="true"/>
            <p:nvPr/>
          </p:nvSpPr>
          <p:spPr>
            <a:xfrm rot="-10800000">
              <a:off x="3468686" y="1172031"/>
              <a:ext cx="303057" cy="566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8"/>
                </a:lnSpc>
                <a:spcBef>
                  <a:spcPct val="0"/>
                </a:spcBef>
              </a:pPr>
              <a:r>
                <a:rPr lang="en-US" b="true" sz="2513" spc="-10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37" id="37"/>
            <p:cNvSpPr/>
            <p:nvPr/>
          </p:nvSpPr>
          <p:spPr>
            <a:xfrm>
              <a:off x="1215351" y="1426781"/>
              <a:ext cx="505008" cy="0"/>
            </a:xfrm>
            <a:prstGeom prst="line">
              <a:avLst/>
            </a:prstGeom>
            <a:ln cap="flat" w="2503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>
              <a:off x="2066917" y="1426530"/>
              <a:ext cx="505008" cy="0"/>
            </a:xfrm>
            <a:prstGeom prst="line">
              <a:avLst/>
            </a:prstGeom>
            <a:ln cap="flat" w="2503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9" id="39"/>
            <p:cNvSpPr txBox="true"/>
            <p:nvPr/>
          </p:nvSpPr>
          <p:spPr>
            <a:xfrm rot="0">
              <a:off x="1731149" y="93542"/>
              <a:ext cx="308577" cy="566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8"/>
                </a:lnSpc>
                <a:spcBef>
                  <a:spcPct val="0"/>
                </a:spcBef>
              </a:pPr>
              <a:r>
                <a:rPr lang="en-US" b="true" sz="2513" spc="-10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O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-3911838">
              <a:off x="1419237" y="2718"/>
              <a:ext cx="87988" cy="5703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48"/>
                </a:lnSpc>
                <a:spcBef>
                  <a:spcPct val="0"/>
                </a:spcBef>
              </a:pPr>
              <a:r>
                <a:rPr lang="en-US" b="true" sz="2534" spc="-10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-3911838">
              <a:off x="1480876" y="-130665"/>
              <a:ext cx="87988" cy="5703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48"/>
                </a:lnSpc>
                <a:spcBef>
                  <a:spcPct val="0"/>
                </a:spcBef>
              </a:pPr>
              <a:r>
                <a:rPr lang="en-US" b="true" sz="2534" spc="-10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3957731">
              <a:off x="2212361" y="-128253"/>
              <a:ext cx="87988" cy="5703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48"/>
                </a:lnSpc>
                <a:spcBef>
                  <a:spcPct val="0"/>
                </a:spcBef>
              </a:pPr>
              <a:r>
                <a:rPr lang="en-US" b="true" sz="2534" spc="-10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3957731">
              <a:off x="2272214" y="5941"/>
              <a:ext cx="87988" cy="5703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48"/>
                </a:lnSpc>
                <a:spcBef>
                  <a:spcPct val="0"/>
                </a:spcBef>
              </a:pPr>
              <a:r>
                <a:rPr lang="en-US" b="true" sz="2534" spc="-10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4344856" y="6092369"/>
            <a:ext cx="2729296" cy="2303498"/>
          </a:xfrm>
          <a:custGeom>
            <a:avLst/>
            <a:gdLst/>
            <a:ahLst/>
            <a:cxnLst/>
            <a:rect r="r" b="b" t="t" l="l"/>
            <a:pathLst>
              <a:path h="2303498" w="2729296">
                <a:moveTo>
                  <a:pt x="0" y="0"/>
                </a:moveTo>
                <a:lnTo>
                  <a:pt x="2729296" y="0"/>
                </a:lnTo>
                <a:lnTo>
                  <a:pt x="2729296" y="2303498"/>
                </a:lnTo>
                <a:lnTo>
                  <a:pt x="0" y="23034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199748" y="132760"/>
            <a:ext cx="2617705" cy="60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  <a:spcBef>
                <a:spcPct val="0"/>
              </a:spcBef>
            </a:pPr>
            <a:r>
              <a:rPr lang="en-US" b="true" sz="3459" spc="-138">
                <a:solidFill>
                  <a:srgbClr val="000001"/>
                </a:solidFill>
                <a:latin typeface="Aileron Bold"/>
                <a:ea typeface="Aileron Bold"/>
                <a:cs typeface="Aileron Bold"/>
                <a:sym typeface="Aileron Bold"/>
              </a:rPr>
              <a:t>CARD 03 ―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476950" y="88429"/>
            <a:ext cx="2808220" cy="63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5"/>
              </a:lnSpc>
              <a:spcBef>
                <a:spcPct val="0"/>
              </a:spcBef>
            </a:pPr>
            <a:r>
              <a:rPr lang="en-US" sz="3753" spc="-150">
                <a:solidFill>
                  <a:srgbClr val="BD1B1B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ACETONE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14238" y="798180"/>
            <a:ext cx="6731523" cy="58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2"/>
              </a:lnSpc>
            </a:pPr>
            <a:r>
              <a:rPr lang="en-US" b="true" sz="1600" i="true" spc="4">
                <a:solidFill>
                  <a:srgbClr val="700C0C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(propan-2-one)</a:t>
            </a:r>
          </a:p>
          <a:p>
            <a:pPr algn="ctr">
              <a:lnSpc>
                <a:spcPts val="4000"/>
              </a:lnSpc>
              <a:spcBef>
                <a:spcPct val="0"/>
              </a:spcBef>
            </a:pPr>
            <a:r>
              <a:rPr lang="en-US" b="true" sz="1600" spc="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“THE CARBONYL CONNECTION”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639404" y="272722"/>
            <a:ext cx="1089719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-92">
                <a:solidFill>
                  <a:srgbClr val="BD1B1B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(C₃H₆O)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21545" y="1635131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1. MOLECULAR FORMULA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32262" y="2926269"/>
            <a:ext cx="1762524" cy="71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1"/>
              </a:lnSpc>
              <a:spcBef>
                <a:spcPct val="0"/>
              </a:spcBef>
            </a:pPr>
            <a:r>
              <a:rPr lang="en-US" b="true" sz="4158" spc="-16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C₃H₆O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38378" y="3867322"/>
            <a:ext cx="2623076" cy="21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  <a:spcBef>
                <a:spcPct val="0"/>
              </a:spcBef>
            </a:pPr>
            <a:r>
              <a:rPr lang="en-US" b="true" sz="1257" spc="-50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3 C + 6 H </a:t>
            </a:r>
            <a:r>
              <a:rPr lang="en-US" b="true" sz="1257" spc="-50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+ 1 O = 10 atoms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061482" y="1635131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2</a:t>
            </a: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LEWIS STRUCTURE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6499" y="5650942"/>
            <a:ext cx="3572331" cy="25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0"/>
              </a:lnSpc>
              <a:spcBef>
                <a:spcPct val="0"/>
              </a:spcBef>
            </a:pPr>
            <a:r>
              <a:rPr lang="en-US" b="true" sz="1450" i="true" spc="-5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3</a:t>
            </a:r>
            <a:r>
              <a:rPr lang="en-US" b="true" sz="1450" i="true" spc="-5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CONDENSED STRUCTURAL FORMULA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78238" y="6882138"/>
            <a:ext cx="2997790" cy="66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15"/>
              </a:lnSpc>
              <a:spcBef>
                <a:spcPct val="0"/>
              </a:spcBef>
            </a:pPr>
            <a:r>
              <a:rPr lang="en-US" b="true" sz="3867" spc="-15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CH₃COCH₃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061482" y="5561277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4</a:t>
            </a: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BOND-LINE FORMULA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122518" y="8439534"/>
            <a:ext cx="3061887" cy="44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0"/>
              </a:lnSpc>
              <a:spcBef>
                <a:spcPct val="0"/>
              </a:spcBef>
            </a:pPr>
            <a:r>
              <a:rPr lang="en-US" b="true" sz="967" spc="-38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T</a:t>
            </a:r>
            <a:r>
              <a:rPr lang="en-US" b="true" sz="967" spc="-38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his arrangement identifies acetone as a ketone and distinguishes its structure from ethanol, which contains a hydroxyl group (–OH).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93194" y="10355145"/>
            <a:ext cx="4773613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 i="true" spc="-48">
                <a:solidFill>
                  <a:srgbClr val="700C0C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ChE  Connection: Solvents, Chemical Processing, and Industrial Cleaning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91127" y="7732176"/>
            <a:ext cx="2623076" cy="21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  <a:spcBef>
                <a:spcPct val="0"/>
              </a:spcBef>
            </a:pPr>
            <a:r>
              <a:rPr lang="en-US" b="true" sz="1257" spc="-50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CH₃C(=</a:t>
            </a:r>
            <a:r>
              <a:rPr lang="en-US" b="true" sz="1257" spc="-50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O)CH₃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52498" y="9328830"/>
            <a:ext cx="7255003" cy="952364"/>
            <a:chOff x="0" y="0"/>
            <a:chExt cx="9128989" cy="119836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128989" cy="1198362"/>
            </a:xfrm>
            <a:custGeom>
              <a:avLst/>
              <a:gdLst/>
              <a:ahLst/>
              <a:cxnLst/>
              <a:rect r="r" b="b" t="t" l="l"/>
              <a:pathLst>
                <a:path h="1198362" w="9128989">
                  <a:moveTo>
                    <a:pt x="26468" y="0"/>
                  </a:moveTo>
                  <a:lnTo>
                    <a:pt x="9102521" y="0"/>
                  </a:lnTo>
                  <a:cubicBezTo>
                    <a:pt x="9109541" y="0"/>
                    <a:pt x="9116273" y="2789"/>
                    <a:pt x="9121237" y="7752"/>
                  </a:cubicBezTo>
                  <a:cubicBezTo>
                    <a:pt x="9126201" y="12716"/>
                    <a:pt x="9128989" y="19448"/>
                    <a:pt x="9128989" y="26468"/>
                  </a:cubicBezTo>
                  <a:lnTo>
                    <a:pt x="9128989" y="1171895"/>
                  </a:lnTo>
                  <a:cubicBezTo>
                    <a:pt x="9128989" y="1186512"/>
                    <a:pt x="9117140" y="1198362"/>
                    <a:pt x="9102521" y="1198362"/>
                  </a:cubicBezTo>
                  <a:lnTo>
                    <a:pt x="26468" y="1198362"/>
                  </a:lnTo>
                  <a:cubicBezTo>
                    <a:pt x="19448" y="1198362"/>
                    <a:pt x="12716" y="1195574"/>
                    <a:pt x="7752" y="1190610"/>
                  </a:cubicBezTo>
                  <a:cubicBezTo>
                    <a:pt x="2789" y="1185647"/>
                    <a:pt x="0" y="1178914"/>
                    <a:pt x="0" y="1171895"/>
                  </a:cubicBezTo>
                  <a:lnTo>
                    <a:pt x="0" y="26468"/>
                  </a:lnTo>
                  <a:cubicBezTo>
                    <a:pt x="0" y="11850"/>
                    <a:pt x="11850" y="0"/>
                    <a:pt x="2646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9128989" cy="1217412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286778" y="9920890"/>
            <a:ext cx="170658" cy="170658"/>
          </a:xfrm>
          <a:custGeom>
            <a:avLst/>
            <a:gdLst/>
            <a:ahLst/>
            <a:cxnLst/>
            <a:rect r="r" b="b" t="t" l="l"/>
            <a:pathLst>
              <a:path h="170658" w="170658">
                <a:moveTo>
                  <a:pt x="0" y="0"/>
                </a:moveTo>
                <a:lnTo>
                  <a:pt x="170657" y="0"/>
                </a:lnTo>
                <a:lnTo>
                  <a:pt x="170657" y="170657"/>
                </a:lnTo>
                <a:lnTo>
                  <a:pt x="0" y="1706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3688799" y="9926089"/>
            <a:ext cx="170565" cy="170565"/>
          </a:xfrm>
          <a:custGeom>
            <a:avLst/>
            <a:gdLst/>
            <a:ahLst/>
            <a:cxnLst/>
            <a:rect r="r" b="b" t="t" l="l"/>
            <a:pathLst>
              <a:path h="170565" w="170565">
                <a:moveTo>
                  <a:pt x="0" y="0"/>
                </a:moveTo>
                <a:lnTo>
                  <a:pt x="170565" y="0"/>
                </a:lnTo>
                <a:lnTo>
                  <a:pt x="170565" y="170565"/>
                </a:lnTo>
                <a:lnTo>
                  <a:pt x="0" y="1705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963969" y="9928748"/>
            <a:ext cx="169417" cy="169417"/>
          </a:xfrm>
          <a:custGeom>
            <a:avLst/>
            <a:gdLst/>
            <a:ahLst/>
            <a:cxnLst/>
            <a:rect r="r" b="b" t="t" l="l"/>
            <a:pathLst>
              <a:path h="169417" w="169417">
                <a:moveTo>
                  <a:pt x="0" y="0"/>
                </a:moveTo>
                <a:lnTo>
                  <a:pt x="169416" y="0"/>
                </a:lnTo>
                <a:lnTo>
                  <a:pt x="169416" y="169417"/>
                </a:lnTo>
                <a:lnTo>
                  <a:pt x="0" y="169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5197942" y="9936549"/>
            <a:ext cx="170371" cy="170371"/>
          </a:xfrm>
          <a:custGeom>
            <a:avLst/>
            <a:gdLst/>
            <a:ahLst/>
            <a:cxnLst/>
            <a:rect r="r" b="b" t="t" l="l"/>
            <a:pathLst>
              <a:path h="170371" w="170371">
                <a:moveTo>
                  <a:pt x="0" y="0"/>
                </a:moveTo>
                <a:lnTo>
                  <a:pt x="170371" y="0"/>
                </a:lnTo>
                <a:lnTo>
                  <a:pt x="170371" y="170371"/>
                </a:lnTo>
                <a:lnTo>
                  <a:pt x="0" y="1703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6" id="66"/>
          <p:cNvSpPr txBox="true"/>
          <p:nvPr/>
        </p:nvSpPr>
        <p:spPr>
          <a:xfrm rot="0">
            <a:off x="486917" y="9938273"/>
            <a:ext cx="1334254" cy="151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7"/>
              </a:lnSpc>
              <a:spcBef>
                <a:spcPct val="0"/>
              </a:spcBef>
            </a:pPr>
            <a:r>
              <a:rPr lang="en-US" sz="1082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atom count verified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205153" y="9443130"/>
            <a:ext cx="3149694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 i="true" spc="-6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VERIFICATION STRIP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3895197" y="9943468"/>
            <a:ext cx="1104976" cy="15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7"/>
              </a:lnSpc>
              <a:spcBef>
                <a:spcPct val="0"/>
              </a:spcBef>
            </a:pPr>
            <a:r>
              <a:rPr lang="en-US" sz="1081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v</a:t>
            </a:r>
            <a:r>
              <a:rPr lang="en-US" sz="1081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alence checked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171569" y="9946074"/>
            <a:ext cx="1324555" cy="15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9"/>
              </a:lnSpc>
              <a:spcBef>
                <a:spcPct val="0"/>
              </a:spcBef>
            </a:pPr>
            <a:r>
              <a:rPr lang="en-US" sz="1074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bo</a:t>
            </a:r>
            <a:r>
              <a:rPr lang="en-US" sz="1074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nd order checked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5404073" y="9953918"/>
            <a:ext cx="1869150" cy="151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  <a:spcBef>
                <a:spcPct val="0"/>
              </a:spcBef>
            </a:pPr>
            <a:r>
              <a:rPr lang="en-US" sz="1080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same co</a:t>
            </a:r>
            <a:r>
              <a:rPr lang="en-US" sz="1080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nnectivity confirmed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566000" y="156600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7560000"/>
                </a:moveTo>
                <a:lnTo>
                  <a:pt x="0" y="0"/>
                </a:ln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close/>
              </a:path>
            </a:pathLst>
          </a:custGeom>
          <a:blipFill>
            <a:blip r:embed="rId2"/>
            <a:stretch>
              <a:fillRect l="-3063" t="0" r="-306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498" y="9328830"/>
            <a:ext cx="7255003" cy="952364"/>
            <a:chOff x="0" y="0"/>
            <a:chExt cx="9128989" cy="11983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28989" cy="1198362"/>
            </a:xfrm>
            <a:custGeom>
              <a:avLst/>
              <a:gdLst/>
              <a:ahLst/>
              <a:cxnLst/>
              <a:rect r="r" b="b" t="t" l="l"/>
              <a:pathLst>
                <a:path h="1198362" w="9128989">
                  <a:moveTo>
                    <a:pt x="26468" y="0"/>
                  </a:moveTo>
                  <a:lnTo>
                    <a:pt x="9102521" y="0"/>
                  </a:lnTo>
                  <a:cubicBezTo>
                    <a:pt x="9109541" y="0"/>
                    <a:pt x="9116273" y="2789"/>
                    <a:pt x="9121237" y="7752"/>
                  </a:cubicBezTo>
                  <a:cubicBezTo>
                    <a:pt x="9126201" y="12716"/>
                    <a:pt x="9128989" y="19448"/>
                    <a:pt x="9128989" y="26468"/>
                  </a:cubicBezTo>
                  <a:lnTo>
                    <a:pt x="9128989" y="1171895"/>
                  </a:lnTo>
                  <a:cubicBezTo>
                    <a:pt x="9128989" y="1186512"/>
                    <a:pt x="9117140" y="1198362"/>
                    <a:pt x="9102521" y="1198362"/>
                  </a:cubicBezTo>
                  <a:lnTo>
                    <a:pt x="26468" y="1198362"/>
                  </a:lnTo>
                  <a:cubicBezTo>
                    <a:pt x="19448" y="1198362"/>
                    <a:pt x="12716" y="1195574"/>
                    <a:pt x="7752" y="1190610"/>
                  </a:cubicBezTo>
                  <a:cubicBezTo>
                    <a:pt x="2789" y="1185647"/>
                    <a:pt x="0" y="1178914"/>
                    <a:pt x="0" y="1171895"/>
                  </a:cubicBezTo>
                  <a:lnTo>
                    <a:pt x="0" y="26468"/>
                  </a:lnTo>
                  <a:cubicBezTo>
                    <a:pt x="0" y="11850"/>
                    <a:pt x="11850" y="0"/>
                    <a:pt x="2646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9128989" cy="1217412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6499" y="1579171"/>
            <a:ext cx="3594051" cy="3745667"/>
            <a:chOff x="0" y="0"/>
            <a:chExt cx="4676784" cy="4874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76784" cy="4874075"/>
            </a:xfrm>
            <a:custGeom>
              <a:avLst/>
              <a:gdLst/>
              <a:ahLst/>
              <a:cxnLst/>
              <a:rect r="r" b="b" t="t" l="l"/>
              <a:pathLst>
                <a:path h="4874075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820647"/>
                  </a:lnTo>
                  <a:cubicBezTo>
                    <a:pt x="4676784" y="4850154"/>
                    <a:pt x="4652863" y="4874075"/>
                    <a:pt x="4623356" y="4874075"/>
                  </a:cubicBezTo>
                  <a:lnTo>
                    <a:pt x="53428" y="4874075"/>
                  </a:lnTo>
                  <a:cubicBezTo>
                    <a:pt x="23921" y="4874075"/>
                    <a:pt x="0" y="4850154"/>
                    <a:pt x="0" y="4820647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4676784" cy="4893125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16499" y="2091298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3856436" y="1605876"/>
            <a:ext cx="3594051" cy="3745667"/>
            <a:chOff x="0" y="0"/>
            <a:chExt cx="4676784" cy="48740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76784" cy="4874075"/>
            </a:xfrm>
            <a:custGeom>
              <a:avLst/>
              <a:gdLst/>
              <a:ahLst/>
              <a:cxnLst/>
              <a:rect r="r" b="b" t="t" l="l"/>
              <a:pathLst>
                <a:path h="4874075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820647"/>
                  </a:lnTo>
                  <a:cubicBezTo>
                    <a:pt x="4676784" y="4850154"/>
                    <a:pt x="4652863" y="4874075"/>
                    <a:pt x="4623356" y="4874075"/>
                  </a:cubicBezTo>
                  <a:lnTo>
                    <a:pt x="53428" y="4874075"/>
                  </a:lnTo>
                  <a:cubicBezTo>
                    <a:pt x="23921" y="4874075"/>
                    <a:pt x="0" y="4850154"/>
                    <a:pt x="0" y="4820647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676784" cy="4921700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3856436" y="2095903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16499" y="5560287"/>
            <a:ext cx="3594051" cy="3627768"/>
            <a:chOff x="0" y="0"/>
            <a:chExt cx="4676784" cy="47206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76784" cy="4720658"/>
            </a:xfrm>
            <a:custGeom>
              <a:avLst/>
              <a:gdLst/>
              <a:ahLst/>
              <a:cxnLst/>
              <a:rect r="r" b="b" t="t" l="l"/>
              <a:pathLst>
                <a:path h="4720658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667230"/>
                  </a:lnTo>
                  <a:cubicBezTo>
                    <a:pt x="4676784" y="4696738"/>
                    <a:pt x="4652863" y="4720658"/>
                    <a:pt x="4623356" y="4720658"/>
                  </a:cubicBezTo>
                  <a:lnTo>
                    <a:pt x="53428" y="4720658"/>
                  </a:lnTo>
                  <a:cubicBezTo>
                    <a:pt x="23921" y="4720658"/>
                    <a:pt x="0" y="4696738"/>
                    <a:pt x="0" y="4667230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4676784" cy="4739709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116499" y="6027150"/>
            <a:ext cx="3594051" cy="23164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3856436" y="5532517"/>
            <a:ext cx="3594051" cy="3627768"/>
            <a:chOff x="0" y="0"/>
            <a:chExt cx="4676784" cy="47206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76784" cy="4720658"/>
            </a:xfrm>
            <a:custGeom>
              <a:avLst/>
              <a:gdLst/>
              <a:ahLst/>
              <a:cxnLst/>
              <a:rect r="r" b="b" t="t" l="l"/>
              <a:pathLst>
                <a:path h="4720658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667230"/>
                  </a:lnTo>
                  <a:cubicBezTo>
                    <a:pt x="4676784" y="4696738"/>
                    <a:pt x="4652863" y="4720658"/>
                    <a:pt x="4623356" y="4720658"/>
                  </a:cubicBezTo>
                  <a:lnTo>
                    <a:pt x="53428" y="4720658"/>
                  </a:lnTo>
                  <a:cubicBezTo>
                    <a:pt x="23921" y="4720658"/>
                    <a:pt x="0" y="4696738"/>
                    <a:pt x="0" y="4667230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676784" cy="4768284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3856436" y="6022545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286778" y="9920890"/>
            <a:ext cx="170658" cy="170658"/>
          </a:xfrm>
          <a:custGeom>
            <a:avLst/>
            <a:gdLst/>
            <a:ahLst/>
            <a:cxnLst/>
            <a:rect r="r" b="b" t="t" l="l"/>
            <a:pathLst>
              <a:path h="170658" w="170658">
                <a:moveTo>
                  <a:pt x="0" y="0"/>
                </a:moveTo>
                <a:lnTo>
                  <a:pt x="170657" y="0"/>
                </a:lnTo>
                <a:lnTo>
                  <a:pt x="170657" y="170657"/>
                </a:lnTo>
                <a:lnTo>
                  <a:pt x="0" y="1706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688799" y="9926089"/>
            <a:ext cx="170565" cy="170565"/>
          </a:xfrm>
          <a:custGeom>
            <a:avLst/>
            <a:gdLst/>
            <a:ahLst/>
            <a:cxnLst/>
            <a:rect r="r" b="b" t="t" l="l"/>
            <a:pathLst>
              <a:path h="170565" w="170565">
                <a:moveTo>
                  <a:pt x="0" y="0"/>
                </a:moveTo>
                <a:lnTo>
                  <a:pt x="170565" y="0"/>
                </a:lnTo>
                <a:lnTo>
                  <a:pt x="170565" y="170565"/>
                </a:lnTo>
                <a:lnTo>
                  <a:pt x="0" y="17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963969" y="9928748"/>
            <a:ext cx="169417" cy="169417"/>
          </a:xfrm>
          <a:custGeom>
            <a:avLst/>
            <a:gdLst/>
            <a:ahLst/>
            <a:cxnLst/>
            <a:rect r="r" b="b" t="t" l="l"/>
            <a:pathLst>
              <a:path h="169417" w="169417">
                <a:moveTo>
                  <a:pt x="0" y="0"/>
                </a:moveTo>
                <a:lnTo>
                  <a:pt x="169416" y="0"/>
                </a:lnTo>
                <a:lnTo>
                  <a:pt x="169416" y="169417"/>
                </a:lnTo>
                <a:lnTo>
                  <a:pt x="0" y="1694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197942" y="9936549"/>
            <a:ext cx="170371" cy="170371"/>
          </a:xfrm>
          <a:custGeom>
            <a:avLst/>
            <a:gdLst/>
            <a:ahLst/>
            <a:cxnLst/>
            <a:rect r="r" b="b" t="t" l="l"/>
            <a:pathLst>
              <a:path h="170371" w="170371">
                <a:moveTo>
                  <a:pt x="0" y="0"/>
                </a:moveTo>
                <a:lnTo>
                  <a:pt x="170371" y="0"/>
                </a:lnTo>
                <a:lnTo>
                  <a:pt x="170371" y="170371"/>
                </a:lnTo>
                <a:lnTo>
                  <a:pt x="0" y="1703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4178817" y="2431275"/>
            <a:ext cx="2949288" cy="2427129"/>
            <a:chOff x="0" y="0"/>
            <a:chExt cx="3932383" cy="3236172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982236" y="13676"/>
              <a:ext cx="336170" cy="621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03"/>
                </a:lnSpc>
                <a:spcBef>
                  <a:spcPct val="0"/>
                </a:spcBef>
              </a:pPr>
              <a:r>
                <a:rPr lang="en-US" b="true" sz="2788" spc="-11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990267" y="1313764"/>
              <a:ext cx="320107" cy="621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03"/>
                </a:lnSpc>
                <a:spcBef>
                  <a:spcPct val="0"/>
                </a:spcBef>
              </a:pPr>
              <a:r>
                <a:rPr lang="en-US" b="true" sz="2788" spc="-11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932208" y="1313764"/>
              <a:ext cx="320107" cy="621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03"/>
                </a:lnSpc>
                <a:spcBef>
                  <a:spcPct val="0"/>
                </a:spcBef>
              </a:pPr>
              <a:r>
                <a:rPr lang="en-US" b="true" sz="2788" spc="-11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982236" y="2614410"/>
              <a:ext cx="336170" cy="621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03"/>
                </a:lnSpc>
                <a:spcBef>
                  <a:spcPct val="0"/>
                </a:spcBef>
              </a:pPr>
              <a:r>
                <a:rPr lang="en-US" b="true" sz="2788" spc="-11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31" id="31"/>
            <p:cNvSpPr/>
            <p:nvPr/>
          </p:nvSpPr>
          <p:spPr>
            <a:xfrm>
              <a:off x="1150321" y="635437"/>
              <a:ext cx="0" cy="735477"/>
            </a:xfrm>
            <a:prstGeom prst="line">
              <a:avLst/>
            </a:prstGeom>
            <a:ln cap="flat" w="2777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 flipH="true">
              <a:off x="2181977" y="837229"/>
              <a:ext cx="378128" cy="516620"/>
            </a:xfrm>
            <a:prstGeom prst="line">
              <a:avLst/>
            </a:prstGeom>
            <a:ln cap="flat" w="2777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3" id="33"/>
            <p:cNvSpPr/>
            <p:nvPr/>
          </p:nvSpPr>
          <p:spPr>
            <a:xfrm flipH="true">
              <a:off x="1150321" y="1935525"/>
              <a:ext cx="0" cy="736035"/>
            </a:xfrm>
            <a:prstGeom prst="line">
              <a:avLst/>
            </a:prstGeom>
            <a:ln cap="flat" w="2777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4" id="34"/>
            <p:cNvSpPr/>
            <p:nvPr/>
          </p:nvSpPr>
          <p:spPr>
            <a:xfrm flipH="true">
              <a:off x="2302803" y="925665"/>
              <a:ext cx="378128" cy="516620"/>
            </a:xfrm>
            <a:prstGeom prst="line">
              <a:avLst/>
            </a:prstGeom>
            <a:ln cap="flat" w="2777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5" id="35"/>
            <p:cNvSpPr/>
            <p:nvPr/>
          </p:nvSpPr>
          <p:spPr>
            <a:xfrm>
              <a:off x="375494" y="1653219"/>
              <a:ext cx="560186" cy="0"/>
            </a:xfrm>
            <a:prstGeom prst="line">
              <a:avLst/>
            </a:prstGeom>
            <a:ln cap="flat" w="2777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6" id="36"/>
            <p:cNvSpPr txBox="true"/>
            <p:nvPr/>
          </p:nvSpPr>
          <p:spPr>
            <a:xfrm rot="0">
              <a:off x="0" y="1313764"/>
              <a:ext cx="336170" cy="621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03"/>
                </a:lnSpc>
                <a:spcBef>
                  <a:spcPct val="0"/>
                </a:spcBef>
              </a:pPr>
              <a:r>
                <a:rPr lang="en-US" b="true" sz="2788" spc="-11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37" id="37"/>
            <p:cNvSpPr/>
            <p:nvPr/>
          </p:nvSpPr>
          <p:spPr>
            <a:xfrm>
              <a:off x="1348142" y="1653499"/>
              <a:ext cx="560186" cy="0"/>
            </a:xfrm>
            <a:prstGeom prst="line">
              <a:avLst/>
            </a:prstGeom>
            <a:ln cap="flat" w="2777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>
              <a:off x="2252652" y="1872832"/>
              <a:ext cx="439735" cy="347046"/>
            </a:xfrm>
            <a:prstGeom prst="line">
              <a:avLst/>
            </a:prstGeom>
            <a:ln cap="flat" w="2777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9" id="39"/>
            <p:cNvSpPr txBox="true"/>
            <p:nvPr/>
          </p:nvSpPr>
          <p:spPr>
            <a:xfrm rot="2172085">
              <a:off x="2605925" y="348837"/>
              <a:ext cx="342293" cy="621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03"/>
                </a:lnSpc>
                <a:spcBef>
                  <a:spcPct val="0"/>
                </a:spcBef>
              </a:pPr>
              <a:r>
                <a:rPr lang="en-US" b="true" sz="2788" spc="-11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O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-1671969">
              <a:off x="2439790" y="12150"/>
              <a:ext cx="97602" cy="626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5"/>
                </a:lnSpc>
                <a:spcBef>
                  <a:spcPct val="0"/>
                </a:spcBef>
              </a:pPr>
              <a:r>
                <a:rPr lang="en-US" b="true" sz="2811" spc="-11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-1671969">
              <a:off x="2583881" y="-64033"/>
              <a:ext cx="97602" cy="626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5"/>
                </a:lnSpc>
                <a:spcBef>
                  <a:spcPct val="0"/>
                </a:spcBef>
              </a:pPr>
              <a:r>
                <a:rPr lang="en-US" b="true" sz="2811" spc="-11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5906060">
              <a:off x="3184230" y="368390"/>
              <a:ext cx="97602" cy="626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5"/>
                </a:lnSpc>
                <a:spcBef>
                  <a:spcPct val="0"/>
                </a:spcBef>
              </a:pPr>
              <a:r>
                <a:rPr lang="en-US" b="true" sz="2811" spc="-11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5906060">
              <a:off x="3160323" y="529618"/>
              <a:ext cx="97602" cy="626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5"/>
                </a:lnSpc>
                <a:spcBef>
                  <a:spcPct val="0"/>
                </a:spcBef>
              </a:pPr>
              <a:r>
                <a:rPr lang="en-US" b="true" sz="2811" spc="-11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7179812">
              <a:off x="2777330" y="2053671"/>
              <a:ext cx="342293" cy="621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03"/>
                </a:lnSpc>
                <a:spcBef>
                  <a:spcPct val="0"/>
                </a:spcBef>
              </a:pPr>
              <a:r>
                <a:rPr lang="en-US" b="true" sz="2788" spc="-11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O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6388515">
              <a:off x="3330432" y="2093403"/>
              <a:ext cx="97602" cy="626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5"/>
                </a:lnSpc>
                <a:spcBef>
                  <a:spcPct val="0"/>
                </a:spcBef>
              </a:pPr>
              <a:r>
                <a:rPr lang="en-US" b="true" sz="2811" spc="-11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6388515">
              <a:off x="3284208" y="2249702"/>
              <a:ext cx="97602" cy="626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5"/>
                </a:lnSpc>
                <a:spcBef>
                  <a:spcPct val="0"/>
                </a:spcBef>
              </a:pPr>
              <a:r>
                <a:rPr lang="en-US" b="true" sz="2811" spc="-11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-6892223">
              <a:off x="2465298" y="2286286"/>
              <a:ext cx="97602" cy="626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5"/>
                </a:lnSpc>
                <a:spcBef>
                  <a:spcPct val="0"/>
                </a:spcBef>
              </a:pPr>
              <a:r>
                <a:rPr lang="en-US" b="true" sz="2811" spc="-11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-6892223">
              <a:off x="2396750" y="2138411"/>
              <a:ext cx="97602" cy="626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5"/>
                </a:lnSpc>
                <a:spcBef>
                  <a:spcPct val="0"/>
                </a:spcBef>
              </a:pPr>
              <a:r>
                <a:rPr lang="en-US" b="true" sz="2811" spc="-11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AutoShape 49" id="49"/>
            <p:cNvSpPr/>
            <p:nvPr/>
          </p:nvSpPr>
          <p:spPr>
            <a:xfrm flipV="true">
              <a:off x="3136004" y="1872832"/>
              <a:ext cx="460210" cy="331190"/>
            </a:xfrm>
            <a:prstGeom prst="line">
              <a:avLst/>
            </a:prstGeom>
            <a:ln cap="flat" w="2777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0" id="50"/>
            <p:cNvSpPr txBox="true"/>
            <p:nvPr/>
          </p:nvSpPr>
          <p:spPr>
            <a:xfrm rot="0">
              <a:off x="3596214" y="1533376"/>
              <a:ext cx="336170" cy="621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03"/>
                </a:lnSpc>
                <a:spcBef>
                  <a:spcPct val="0"/>
                </a:spcBef>
              </a:pPr>
              <a:r>
                <a:rPr lang="en-US" b="true" sz="2788" spc="-11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-130495">
            <a:off x="3859364" y="6050581"/>
            <a:ext cx="3628222" cy="2421127"/>
          </a:xfrm>
          <a:custGeom>
            <a:avLst/>
            <a:gdLst/>
            <a:ahLst/>
            <a:cxnLst/>
            <a:rect r="r" b="b" t="t" l="l"/>
            <a:pathLst>
              <a:path h="2421127" w="3628222">
                <a:moveTo>
                  <a:pt x="0" y="0"/>
                </a:moveTo>
                <a:lnTo>
                  <a:pt x="3628222" y="0"/>
                </a:lnTo>
                <a:lnTo>
                  <a:pt x="3628222" y="2421128"/>
                </a:lnTo>
                <a:lnTo>
                  <a:pt x="0" y="24211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486917" y="9938273"/>
            <a:ext cx="1334254" cy="151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7"/>
              </a:lnSpc>
              <a:spcBef>
                <a:spcPct val="0"/>
              </a:spcBef>
            </a:pPr>
            <a:r>
              <a:rPr lang="en-US" sz="1082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atom count verified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41063" y="124883"/>
            <a:ext cx="2617705" cy="60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  <a:spcBef>
                <a:spcPct val="0"/>
              </a:spcBef>
            </a:pPr>
            <a:r>
              <a:rPr lang="en-US" b="true" sz="3459" spc="-138">
                <a:solidFill>
                  <a:srgbClr val="000001"/>
                </a:solidFill>
                <a:latin typeface="Aileron Bold"/>
                <a:ea typeface="Aileron Bold"/>
                <a:cs typeface="Aileron Bold"/>
                <a:sym typeface="Aileron Bold"/>
              </a:rPr>
              <a:t>CARD 04 ―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935760" y="88429"/>
            <a:ext cx="2808220" cy="63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5"/>
              </a:lnSpc>
              <a:spcBef>
                <a:spcPct val="0"/>
              </a:spcBef>
            </a:pPr>
            <a:r>
              <a:rPr lang="en-US" sz="3753" spc="-150">
                <a:solidFill>
                  <a:srgbClr val="BD1B1B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ACETIC ACID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14238" y="798180"/>
            <a:ext cx="6731523" cy="58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2"/>
              </a:lnSpc>
            </a:pPr>
            <a:r>
              <a:rPr lang="en-US" b="true" sz="1600" i="true" spc="4">
                <a:solidFill>
                  <a:srgbClr val="700C0C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(ethanoic acid)</a:t>
            </a:r>
          </a:p>
          <a:p>
            <a:pPr algn="ctr">
              <a:lnSpc>
                <a:spcPts val="4000"/>
              </a:lnSpc>
              <a:spcBef>
                <a:spcPct val="0"/>
              </a:spcBef>
            </a:pPr>
            <a:r>
              <a:rPr lang="en-US" b="true" sz="1600" spc="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“THE ACIDIC O”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811723" y="272722"/>
            <a:ext cx="1089719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-92">
                <a:solidFill>
                  <a:srgbClr val="BD1B1B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(C₂H₄O₂)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21545" y="1636744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1. MOLECULAR FORMULA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32262" y="2927882"/>
            <a:ext cx="1762524" cy="71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1"/>
              </a:lnSpc>
              <a:spcBef>
                <a:spcPct val="0"/>
              </a:spcBef>
            </a:pPr>
            <a:r>
              <a:rPr lang="en-US" b="true" sz="4158" spc="-16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C₂H₄O₂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38378" y="3868935"/>
            <a:ext cx="2623076" cy="21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  <a:spcBef>
                <a:spcPct val="0"/>
              </a:spcBef>
            </a:pPr>
            <a:r>
              <a:rPr lang="en-US" b="true" sz="1257" spc="-50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2 C + 4 H </a:t>
            </a:r>
            <a:r>
              <a:rPr lang="en-US" b="true" sz="1257" spc="-50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+ 2 O = 8 atoms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061482" y="1636744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2</a:t>
            </a: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LEWIS STRUCTURE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6499" y="5652555"/>
            <a:ext cx="3572331" cy="25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0"/>
              </a:lnSpc>
              <a:spcBef>
                <a:spcPct val="0"/>
              </a:spcBef>
            </a:pPr>
            <a:r>
              <a:rPr lang="en-US" b="true" sz="1450" i="true" spc="-5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3</a:t>
            </a:r>
            <a:r>
              <a:rPr lang="en-US" b="true" sz="1450" i="true" spc="-5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CONDENSED STRUCTURAL FORMULA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378238" y="6883751"/>
            <a:ext cx="2997790" cy="66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15"/>
              </a:lnSpc>
              <a:spcBef>
                <a:spcPct val="0"/>
              </a:spcBef>
            </a:pPr>
            <a:r>
              <a:rPr lang="en-US" b="true" sz="3867" spc="-15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CH₃COOH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061482" y="5562890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4</a:t>
            </a: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BOND-LINE FORMULA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205153" y="9443130"/>
            <a:ext cx="3149694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 i="true" spc="-6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VERIFICATION STRIP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3895197" y="9943468"/>
            <a:ext cx="1104976" cy="15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7"/>
              </a:lnSpc>
              <a:spcBef>
                <a:spcPct val="0"/>
              </a:spcBef>
            </a:pPr>
            <a:r>
              <a:rPr lang="en-US" sz="1081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v</a:t>
            </a:r>
            <a:r>
              <a:rPr lang="en-US" sz="1081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alence checked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171569" y="9946074"/>
            <a:ext cx="1324555" cy="15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9"/>
              </a:lnSpc>
              <a:spcBef>
                <a:spcPct val="0"/>
              </a:spcBef>
            </a:pPr>
            <a:r>
              <a:rPr lang="en-US" sz="1074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bo</a:t>
            </a:r>
            <a:r>
              <a:rPr lang="en-US" sz="1074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nd order checked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5404073" y="9953918"/>
            <a:ext cx="1869150" cy="151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  <a:spcBef>
                <a:spcPct val="0"/>
              </a:spcBef>
            </a:pPr>
            <a:r>
              <a:rPr lang="en-US" sz="1080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same co</a:t>
            </a:r>
            <a:r>
              <a:rPr lang="en-US" sz="1080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nnectivity confirmed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4122518" y="8441147"/>
            <a:ext cx="3061887" cy="44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0"/>
              </a:lnSpc>
              <a:spcBef>
                <a:spcPct val="0"/>
              </a:spcBef>
            </a:pPr>
            <a:r>
              <a:rPr lang="en-US" b="true" sz="967" spc="-38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Acet</a:t>
            </a:r>
            <a:r>
              <a:rPr lang="en-US" b="true" sz="967" spc="-38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ic acid contains a carboxyl group (–COOH), which combines a carbonyl group (C=O) and a hydroxyl group (–OH) on the same carbon atom.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00523" y="10355145"/>
            <a:ext cx="4958953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 i="true" spc="-48">
                <a:solidFill>
                  <a:srgbClr val="700C0C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ChE Connection: Food Processing, Fermentation, and Chemical Production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591127" y="7733789"/>
            <a:ext cx="2623076" cy="21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  <a:spcBef>
                <a:spcPct val="0"/>
              </a:spcBef>
            </a:pPr>
            <a:r>
              <a:rPr lang="en-US" b="true" sz="1257" spc="-50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CH₃C(=</a:t>
            </a:r>
            <a:r>
              <a:rPr lang="en-US" b="true" sz="1257" spc="-50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O)OH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566000" y="156600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7560000"/>
                </a:moveTo>
                <a:lnTo>
                  <a:pt x="0" y="0"/>
                </a:ln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close/>
              </a:path>
            </a:pathLst>
          </a:custGeom>
          <a:blipFill>
            <a:blip r:embed="rId2"/>
            <a:stretch>
              <a:fillRect l="-3063" t="0" r="-306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498" y="9328830"/>
            <a:ext cx="7255003" cy="952364"/>
            <a:chOff x="0" y="0"/>
            <a:chExt cx="9128989" cy="11983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28989" cy="1198362"/>
            </a:xfrm>
            <a:custGeom>
              <a:avLst/>
              <a:gdLst/>
              <a:ahLst/>
              <a:cxnLst/>
              <a:rect r="r" b="b" t="t" l="l"/>
              <a:pathLst>
                <a:path h="1198362" w="9128989">
                  <a:moveTo>
                    <a:pt x="26468" y="0"/>
                  </a:moveTo>
                  <a:lnTo>
                    <a:pt x="9102521" y="0"/>
                  </a:lnTo>
                  <a:cubicBezTo>
                    <a:pt x="9109541" y="0"/>
                    <a:pt x="9116273" y="2789"/>
                    <a:pt x="9121237" y="7752"/>
                  </a:cubicBezTo>
                  <a:cubicBezTo>
                    <a:pt x="9126201" y="12716"/>
                    <a:pt x="9128989" y="19448"/>
                    <a:pt x="9128989" y="26468"/>
                  </a:cubicBezTo>
                  <a:lnTo>
                    <a:pt x="9128989" y="1171895"/>
                  </a:lnTo>
                  <a:cubicBezTo>
                    <a:pt x="9128989" y="1186512"/>
                    <a:pt x="9117140" y="1198362"/>
                    <a:pt x="9102521" y="1198362"/>
                  </a:cubicBezTo>
                  <a:lnTo>
                    <a:pt x="26468" y="1198362"/>
                  </a:lnTo>
                  <a:cubicBezTo>
                    <a:pt x="19448" y="1198362"/>
                    <a:pt x="12716" y="1195574"/>
                    <a:pt x="7752" y="1190610"/>
                  </a:cubicBezTo>
                  <a:cubicBezTo>
                    <a:pt x="2789" y="1185647"/>
                    <a:pt x="0" y="1178914"/>
                    <a:pt x="0" y="1171895"/>
                  </a:cubicBezTo>
                  <a:lnTo>
                    <a:pt x="0" y="26468"/>
                  </a:lnTo>
                  <a:cubicBezTo>
                    <a:pt x="0" y="11850"/>
                    <a:pt x="11850" y="0"/>
                    <a:pt x="2646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9128989" cy="1217412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6499" y="1579171"/>
            <a:ext cx="3594051" cy="3745667"/>
            <a:chOff x="0" y="0"/>
            <a:chExt cx="4676784" cy="4874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76784" cy="4874075"/>
            </a:xfrm>
            <a:custGeom>
              <a:avLst/>
              <a:gdLst/>
              <a:ahLst/>
              <a:cxnLst/>
              <a:rect r="r" b="b" t="t" l="l"/>
              <a:pathLst>
                <a:path h="4874075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820647"/>
                  </a:lnTo>
                  <a:cubicBezTo>
                    <a:pt x="4676784" y="4850154"/>
                    <a:pt x="4652863" y="4874075"/>
                    <a:pt x="4623356" y="4874075"/>
                  </a:cubicBezTo>
                  <a:lnTo>
                    <a:pt x="53428" y="4874075"/>
                  </a:lnTo>
                  <a:cubicBezTo>
                    <a:pt x="23921" y="4874075"/>
                    <a:pt x="0" y="4850154"/>
                    <a:pt x="0" y="4820647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4676784" cy="4893125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16499" y="2091298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3856436" y="1605876"/>
            <a:ext cx="3594051" cy="3745667"/>
            <a:chOff x="0" y="0"/>
            <a:chExt cx="4676784" cy="48740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76784" cy="4874075"/>
            </a:xfrm>
            <a:custGeom>
              <a:avLst/>
              <a:gdLst/>
              <a:ahLst/>
              <a:cxnLst/>
              <a:rect r="r" b="b" t="t" l="l"/>
              <a:pathLst>
                <a:path h="4874075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820647"/>
                  </a:lnTo>
                  <a:cubicBezTo>
                    <a:pt x="4676784" y="4850154"/>
                    <a:pt x="4652863" y="4874075"/>
                    <a:pt x="4623356" y="4874075"/>
                  </a:cubicBezTo>
                  <a:lnTo>
                    <a:pt x="53428" y="4874075"/>
                  </a:lnTo>
                  <a:cubicBezTo>
                    <a:pt x="23921" y="4874075"/>
                    <a:pt x="0" y="4850154"/>
                    <a:pt x="0" y="4820647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676784" cy="4921700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3856436" y="2095903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16499" y="5560287"/>
            <a:ext cx="3594051" cy="3627768"/>
            <a:chOff x="0" y="0"/>
            <a:chExt cx="4676784" cy="47206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76784" cy="4720658"/>
            </a:xfrm>
            <a:custGeom>
              <a:avLst/>
              <a:gdLst/>
              <a:ahLst/>
              <a:cxnLst/>
              <a:rect r="r" b="b" t="t" l="l"/>
              <a:pathLst>
                <a:path h="4720658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667230"/>
                  </a:lnTo>
                  <a:cubicBezTo>
                    <a:pt x="4676784" y="4696738"/>
                    <a:pt x="4652863" y="4720658"/>
                    <a:pt x="4623356" y="4720658"/>
                  </a:cubicBezTo>
                  <a:lnTo>
                    <a:pt x="53428" y="4720658"/>
                  </a:lnTo>
                  <a:cubicBezTo>
                    <a:pt x="23921" y="4720658"/>
                    <a:pt x="0" y="4696738"/>
                    <a:pt x="0" y="4667230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4676784" cy="4739709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116499" y="6027150"/>
            <a:ext cx="3594051" cy="23164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3856436" y="5532517"/>
            <a:ext cx="3594051" cy="3627768"/>
            <a:chOff x="0" y="0"/>
            <a:chExt cx="4676784" cy="47206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76784" cy="4720658"/>
            </a:xfrm>
            <a:custGeom>
              <a:avLst/>
              <a:gdLst/>
              <a:ahLst/>
              <a:cxnLst/>
              <a:rect r="r" b="b" t="t" l="l"/>
              <a:pathLst>
                <a:path h="4720658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667230"/>
                  </a:lnTo>
                  <a:cubicBezTo>
                    <a:pt x="4676784" y="4696738"/>
                    <a:pt x="4652863" y="4720658"/>
                    <a:pt x="4623356" y="4720658"/>
                  </a:cubicBezTo>
                  <a:lnTo>
                    <a:pt x="53428" y="4720658"/>
                  </a:lnTo>
                  <a:cubicBezTo>
                    <a:pt x="23921" y="4720658"/>
                    <a:pt x="0" y="4696738"/>
                    <a:pt x="0" y="4667230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676784" cy="4768284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3856436" y="6022545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286778" y="9920890"/>
            <a:ext cx="170658" cy="170658"/>
          </a:xfrm>
          <a:custGeom>
            <a:avLst/>
            <a:gdLst/>
            <a:ahLst/>
            <a:cxnLst/>
            <a:rect r="r" b="b" t="t" l="l"/>
            <a:pathLst>
              <a:path h="170658" w="170658">
                <a:moveTo>
                  <a:pt x="0" y="0"/>
                </a:moveTo>
                <a:lnTo>
                  <a:pt x="170657" y="0"/>
                </a:lnTo>
                <a:lnTo>
                  <a:pt x="170657" y="170657"/>
                </a:lnTo>
                <a:lnTo>
                  <a:pt x="0" y="1706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688799" y="9926089"/>
            <a:ext cx="170565" cy="170565"/>
          </a:xfrm>
          <a:custGeom>
            <a:avLst/>
            <a:gdLst/>
            <a:ahLst/>
            <a:cxnLst/>
            <a:rect r="r" b="b" t="t" l="l"/>
            <a:pathLst>
              <a:path h="170565" w="170565">
                <a:moveTo>
                  <a:pt x="0" y="0"/>
                </a:moveTo>
                <a:lnTo>
                  <a:pt x="170565" y="0"/>
                </a:lnTo>
                <a:lnTo>
                  <a:pt x="170565" y="170565"/>
                </a:lnTo>
                <a:lnTo>
                  <a:pt x="0" y="17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963969" y="9928748"/>
            <a:ext cx="169417" cy="169417"/>
          </a:xfrm>
          <a:custGeom>
            <a:avLst/>
            <a:gdLst/>
            <a:ahLst/>
            <a:cxnLst/>
            <a:rect r="r" b="b" t="t" l="l"/>
            <a:pathLst>
              <a:path h="169417" w="169417">
                <a:moveTo>
                  <a:pt x="0" y="0"/>
                </a:moveTo>
                <a:lnTo>
                  <a:pt x="169416" y="0"/>
                </a:lnTo>
                <a:lnTo>
                  <a:pt x="169416" y="169417"/>
                </a:lnTo>
                <a:lnTo>
                  <a:pt x="0" y="1694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197942" y="9936549"/>
            <a:ext cx="170371" cy="170371"/>
          </a:xfrm>
          <a:custGeom>
            <a:avLst/>
            <a:gdLst/>
            <a:ahLst/>
            <a:cxnLst/>
            <a:rect r="r" b="b" t="t" l="l"/>
            <a:pathLst>
              <a:path h="170371" w="170371">
                <a:moveTo>
                  <a:pt x="0" y="0"/>
                </a:moveTo>
                <a:lnTo>
                  <a:pt x="170371" y="0"/>
                </a:lnTo>
                <a:lnTo>
                  <a:pt x="170371" y="170371"/>
                </a:lnTo>
                <a:lnTo>
                  <a:pt x="0" y="1703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3998353" y="2747629"/>
            <a:ext cx="3350243" cy="1737139"/>
            <a:chOff x="0" y="0"/>
            <a:chExt cx="4466991" cy="2316185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718733" y="-47625"/>
              <a:ext cx="245986" cy="460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6"/>
                </a:lnSpc>
                <a:spcBef>
                  <a:spcPct val="0"/>
                </a:spcBef>
              </a:pPr>
              <a:r>
                <a:rPr lang="en-US" b="true" sz="2040" spc="-8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405741" y="-47625"/>
              <a:ext cx="250466" cy="460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6"/>
                </a:lnSpc>
                <a:spcBef>
                  <a:spcPct val="0"/>
                </a:spcBef>
              </a:pPr>
              <a:r>
                <a:rPr lang="en-US" b="true" sz="2040" spc="-8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O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724610" y="903691"/>
              <a:ext cx="234233" cy="460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6"/>
                </a:lnSpc>
                <a:spcBef>
                  <a:spcPct val="0"/>
                </a:spcBef>
              </a:pPr>
              <a:r>
                <a:rPr lang="en-US" b="true" sz="2040" spc="-8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413858" y="903691"/>
              <a:ext cx="234233" cy="460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6"/>
                </a:lnSpc>
                <a:spcBef>
                  <a:spcPct val="0"/>
                </a:spcBef>
              </a:pPr>
              <a:r>
                <a:rPr lang="en-US" b="true" sz="2040" spc="-8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718733" y="1855416"/>
              <a:ext cx="245986" cy="460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6"/>
                </a:lnSpc>
                <a:spcBef>
                  <a:spcPct val="0"/>
                </a:spcBef>
              </a:pPr>
              <a:r>
                <a:rPr lang="en-US" b="true" sz="2040" spc="-8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32" id="32"/>
            <p:cNvSpPr/>
            <p:nvPr/>
          </p:nvSpPr>
          <p:spPr>
            <a:xfrm>
              <a:off x="841727" y="413144"/>
              <a:ext cx="0" cy="538172"/>
            </a:xfrm>
            <a:prstGeom prst="line">
              <a:avLst/>
            </a:prstGeom>
            <a:ln cap="flat" w="2032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3" id="33"/>
            <p:cNvSpPr/>
            <p:nvPr/>
          </p:nvSpPr>
          <p:spPr>
            <a:xfrm flipH="true">
              <a:off x="841727" y="1364460"/>
              <a:ext cx="0" cy="538581"/>
            </a:xfrm>
            <a:prstGeom prst="line">
              <a:avLst/>
            </a:prstGeom>
            <a:ln cap="flat" w="2032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4" id="34"/>
            <p:cNvSpPr/>
            <p:nvPr/>
          </p:nvSpPr>
          <p:spPr>
            <a:xfrm>
              <a:off x="274761" y="1157888"/>
              <a:ext cx="409906" cy="0"/>
            </a:xfrm>
            <a:prstGeom prst="line">
              <a:avLst/>
            </a:prstGeom>
            <a:ln cap="flat" w="2032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5" id="35"/>
            <p:cNvSpPr txBox="true"/>
            <p:nvPr/>
          </p:nvSpPr>
          <p:spPr>
            <a:xfrm rot="0">
              <a:off x="0" y="903691"/>
              <a:ext cx="245986" cy="460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6"/>
                </a:lnSpc>
                <a:spcBef>
                  <a:spcPct val="0"/>
                </a:spcBef>
              </a:pPr>
              <a:r>
                <a:rPr lang="en-US" b="true" sz="2040" spc="-8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36" id="36"/>
            <p:cNvSpPr/>
            <p:nvPr/>
          </p:nvSpPr>
          <p:spPr>
            <a:xfrm>
              <a:off x="986479" y="1158092"/>
              <a:ext cx="409906" cy="0"/>
            </a:xfrm>
            <a:prstGeom prst="line">
              <a:avLst/>
            </a:prstGeom>
            <a:ln cap="flat" w="2032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7" id="37"/>
            <p:cNvSpPr/>
            <p:nvPr/>
          </p:nvSpPr>
          <p:spPr>
            <a:xfrm>
              <a:off x="1677679" y="1157888"/>
              <a:ext cx="409906" cy="0"/>
            </a:xfrm>
            <a:prstGeom prst="line">
              <a:avLst/>
            </a:prstGeom>
            <a:ln cap="flat" w="2032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8" id="38"/>
            <p:cNvSpPr txBox="true"/>
            <p:nvPr/>
          </p:nvSpPr>
          <p:spPr>
            <a:xfrm rot="0">
              <a:off x="2813517" y="-47625"/>
              <a:ext cx="245986" cy="460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6"/>
                </a:lnSpc>
                <a:spcBef>
                  <a:spcPct val="0"/>
                </a:spcBef>
              </a:pPr>
              <a:r>
                <a:rPr lang="en-US" b="true" sz="2040" spc="-8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3501567" y="-47625"/>
              <a:ext cx="245986" cy="460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6"/>
                </a:lnSpc>
                <a:spcBef>
                  <a:spcPct val="0"/>
                </a:spcBef>
              </a:pPr>
              <a:r>
                <a:rPr lang="en-US" b="true" sz="2040" spc="-8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2819393" y="903691"/>
              <a:ext cx="234233" cy="460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6"/>
                </a:lnSpc>
                <a:spcBef>
                  <a:spcPct val="0"/>
                </a:spcBef>
              </a:pPr>
              <a:r>
                <a:rPr lang="en-US" b="true" sz="2040" spc="-8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3507443" y="903691"/>
              <a:ext cx="234233" cy="460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6"/>
                </a:lnSpc>
                <a:spcBef>
                  <a:spcPct val="0"/>
                </a:spcBef>
              </a:pPr>
              <a:r>
                <a:rPr lang="en-US" b="true" sz="2040" spc="-8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2813517" y="1855416"/>
              <a:ext cx="245986" cy="460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6"/>
                </a:lnSpc>
                <a:spcBef>
                  <a:spcPct val="0"/>
                </a:spcBef>
              </a:pPr>
              <a:r>
                <a:rPr lang="en-US" b="true" sz="2040" spc="-8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3501567" y="1855416"/>
              <a:ext cx="245986" cy="460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6"/>
                </a:lnSpc>
                <a:spcBef>
                  <a:spcPct val="0"/>
                </a:spcBef>
              </a:pPr>
              <a:r>
                <a:rPr lang="en-US" b="true" sz="2040" spc="-8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44" id="44"/>
            <p:cNvSpPr/>
            <p:nvPr/>
          </p:nvSpPr>
          <p:spPr>
            <a:xfrm>
              <a:off x="2936510" y="413144"/>
              <a:ext cx="0" cy="538172"/>
            </a:xfrm>
            <a:prstGeom prst="line">
              <a:avLst/>
            </a:prstGeom>
            <a:ln cap="flat" w="2032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5" id="45"/>
            <p:cNvSpPr/>
            <p:nvPr/>
          </p:nvSpPr>
          <p:spPr>
            <a:xfrm>
              <a:off x="3624560" y="413144"/>
              <a:ext cx="0" cy="538172"/>
            </a:xfrm>
            <a:prstGeom prst="line">
              <a:avLst/>
            </a:prstGeom>
            <a:ln cap="flat" w="2032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6" id="46"/>
            <p:cNvSpPr/>
            <p:nvPr/>
          </p:nvSpPr>
          <p:spPr>
            <a:xfrm flipH="true">
              <a:off x="2936510" y="1364460"/>
              <a:ext cx="0" cy="538581"/>
            </a:xfrm>
            <a:prstGeom prst="line">
              <a:avLst/>
            </a:prstGeom>
            <a:ln cap="flat" w="2032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7" id="47"/>
            <p:cNvSpPr/>
            <p:nvPr/>
          </p:nvSpPr>
          <p:spPr>
            <a:xfrm>
              <a:off x="3624560" y="1364460"/>
              <a:ext cx="0" cy="538581"/>
            </a:xfrm>
            <a:prstGeom prst="line">
              <a:avLst/>
            </a:prstGeom>
            <a:ln cap="flat" w="2032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8" id="48"/>
            <p:cNvSpPr/>
            <p:nvPr/>
          </p:nvSpPr>
          <p:spPr>
            <a:xfrm flipH="true">
              <a:off x="3782324" y="1157888"/>
              <a:ext cx="409906" cy="0"/>
            </a:xfrm>
            <a:prstGeom prst="line">
              <a:avLst/>
            </a:prstGeom>
            <a:ln cap="flat" w="2032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9" id="49"/>
            <p:cNvSpPr txBox="true"/>
            <p:nvPr/>
          </p:nvSpPr>
          <p:spPr>
            <a:xfrm rot="-10800000">
              <a:off x="4221005" y="951316"/>
              <a:ext cx="245986" cy="460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6"/>
                </a:lnSpc>
                <a:spcBef>
                  <a:spcPct val="0"/>
                </a:spcBef>
              </a:pPr>
              <a:r>
                <a:rPr lang="en-US" b="true" sz="2040" spc="-8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50" id="50"/>
            <p:cNvSpPr/>
            <p:nvPr/>
          </p:nvSpPr>
          <p:spPr>
            <a:xfrm>
              <a:off x="3083214" y="1157888"/>
              <a:ext cx="409906" cy="0"/>
            </a:xfrm>
            <a:prstGeom prst="line">
              <a:avLst/>
            </a:prstGeom>
            <a:ln cap="flat" w="2032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1" id="51"/>
            <p:cNvSpPr/>
            <p:nvPr/>
          </p:nvSpPr>
          <p:spPr>
            <a:xfrm>
              <a:off x="1477250" y="416907"/>
              <a:ext cx="0" cy="538172"/>
            </a:xfrm>
            <a:prstGeom prst="line">
              <a:avLst/>
            </a:prstGeom>
            <a:ln cap="flat" w="2032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2" id="52"/>
            <p:cNvSpPr/>
            <p:nvPr/>
          </p:nvSpPr>
          <p:spPr>
            <a:xfrm flipV="true">
              <a:off x="1584205" y="416703"/>
              <a:ext cx="0" cy="534613"/>
            </a:xfrm>
            <a:prstGeom prst="line">
              <a:avLst/>
            </a:prstGeom>
            <a:ln cap="flat" w="2032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3" id="53"/>
            <p:cNvSpPr/>
            <p:nvPr/>
          </p:nvSpPr>
          <p:spPr>
            <a:xfrm flipH="true">
              <a:off x="2386675" y="1161134"/>
              <a:ext cx="409906" cy="0"/>
            </a:xfrm>
            <a:prstGeom prst="line">
              <a:avLst/>
            </a:prstGeom>
            <a:ln cap="flat" w="2032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4" id="54"/>
            <p:cNvSpPr txBox="true"/>
            <p:nvPr/>
          </p:nvSpPr>
          <p:spPr>
            <a:xfrm rot="0">
              <a:off x="2103677" y="906937"/>
              <a:ext cx="250466" cy="460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6"/>
                </a:lnSpc>
                <a:spcBef>
                  <a:spcPct val="0"/>
                </a:spcBef>
              </a:pPr>
              <a:r>
                <a:rPr lang="en-US" b="true" sz="2040" spc="-8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O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2128811" y="605339"/>
              <a:ext cx="71418" cy="464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057" spc="-8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2248077" y="605339"/>
              <a:ext cx="71418" cy="464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057" spc="-8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2133568" y="1021912"/>
              <a:ext cx="71418" cy="464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057" spc="-8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2252834" y="1021912"/>
              <a:ext cx="71418" cy="464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057" spc="-8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5400000">
              <a:off x="1834318" y="-87538"/>
              <a:ext cx="71418" cy="464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057" spc="-8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5400000">
              <a:off x="1834318" y="36484"/>
              <a:ext cx="71418" cy="464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057" spc="-8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5400000">
              <a:off x="1417746" y="-87538"/>
              <a:ext cx="71418" cy="464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057" spc="-8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5400000">
              <a:off x="1417746" y="36484"/>
              <a:ext cx="71418" cy="464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057" spc="-8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3911037" y="5964312"/>
            <a:ext cx="3539450" cy="2562087"/>
          </a:xfrm>
          <a:custGeom>
            <a:avLst/>
            <a:gdLst/>
            <a:ahLst/>
            <a:cxnLst/>
            <a:rect r="r" b="b" t="t" l="l"/>
            <a:pathLst>
              <a:path h="2562087" w="3539450">
                <a:moveTo>
                  <a:pt x="0" y="0"/>
                </a:moveTo>
                <a:lnTo>
                  <a:pt x="3539450" y="0"/>
                </a:lnTo>
                <a:lnTo>
                  <a:pt x="3539450" y="2562087"/>
                </a:lnTo>
                <a:lnTo>
                  <a:pt x="0" y="25620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486917" y="9938273"/>
            <a:ext cx="1334254" cy="151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7"/>
              </a:lnSpc>
              <a:spcBef>
                <a:spcPct val="0"/>
              </a:spcBef>
            </a:pPr>
            <a:r>
              <a:rPr lang="en-US" sz="1082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atom count verified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74008" y="124883"/>
            <a:ext cx="2617705" cy="60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  <a:spcBef>
                <a:spcPct val="0"/>
              </a:spcBef>
            </a:pPr>
            <a:r>
              <a:rPr lang="en-US" b="true" sz="3459" spc="-138">
                <a:solidFill>
                  <a:srgbClr val="000001"/>
                </a:solidFill>
                <a:latin typeface="Aileron Bold"/>
                <a:ea typeface="Aileron Bold"/>
                <a:cs typeface="Aileron Bold"/>
                <a:sym typeface="Aileron Bold"/>
              </a:rPr>
              <a:t>CARD 05 ―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568704" y="88429"/>
            <a:ext cx="3774677" cy="63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5"/>
              </a:lnSpc>
              <a:spcBef>
                <a:spcPct val="0"/>
              </a:spcBef>
            </a:pPr>
            <a:r>
              <a:rPr lang="en-US" sz="3753" spc="-150">
                <a:solidFill>
                  <a:srgbClr val="BD1B1B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ETHYL ACETATE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414238" y="798180"/>
            <a:ext cx="6731523" cy="58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2"/>
              </a:lnSpc>
            </a:pPr>
            <a:r>
              <a:rPr lang="en-US" b="true" sz="1600" i="true" spc="4">
                <a:solidFill>
                  <a:srgbClr val="700C0C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(ethyl ethanoate)</a:t>
            </a:r>
          </a:p>
          <a:p>
            <a:pPr algn="ctr">
              <a:lnSpc>
                <a:spcPts val="4000"/>
              </a:lnSpc>
              <a:spcBef>
                <a:spcPct val="0"/>
              </a:spcBef>
            </a:pPr>
            <a:r>
              <a:rPr lang="en-US" b="true" sz="1600" spc="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“THE ESTER CONNECTION”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6265731" y="272722"/>
            <a:ext cx="1089719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-92">
                <a:solidFill>
                  <a:srgbClr val="BD1B1B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(C₄H₈O₂)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321545" y="1636744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1. MOLECULAR FORMULA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32262" y="2927882"/>
            <a:ext cx="1762524" cy="71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1"/>
              </a:lnSpc>
              <a:spcBef>
                <a:spcPct val="0"/>
              </a:spcBef>
            </a:pPr>
            <a:r>
              <a:rPr lang="en-US" b="true" sz="4158" spc="-16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C₄H₈O₂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638378" y="3868935"/>
            <a:ext cx="2623076" cy="21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  <a:spcBef>
                <a:spcPct val="0"/>
              </a:spcBef>
            </a:pPr>
            <a:r>
              <a:rPr lang="en-US" b="true" sz="1257" spc="-50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4 C + 8 H </a:t>
            </a:r>
            <a:r>
              <a:rPr lang="en-US" b="true" sz="1257" spc="-50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+ 2 O = 14 atoms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4061482" y="1636744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2</a:t>
            </a: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LEWIS STRUCTURE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16499" y="5652555"/>
            <a:ext cx="3572331" cy="25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0"/>
              </a:lnSpc>
              <a:spcBef>
                <a:spcPct val="0"/>
              </a:spcBef>
            </a:pPr>
            <a:r>
              <a:rPr lang="en-US" b="true" sz="1450" i="true" spc="-5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3</a:t>
            </a:r>
            <a:r>
              <a:rPr lang="en-US" b="true" sz="1450" i="true" spc="-5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CONDENSED STRUCTURAL FORMULA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339032" y="7000656"/>
            <a:ext cx="3127265" cy="552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6"/>
              </a:lnSpc>
              <a:spcBef>
                <a:spcPct val="0"/>
              </a:spcBef>
            </a:pPr>
            <a:r>
              <a:rPr lang="en-US" b="true" sz="3219" spc="-12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CH₃COOCH₂CH₃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4061482" y="5562890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4</a:t>
            </a: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BOND-LINE FORMULA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2205153" y="9443130"/>
            <a:ext cx="3149694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 i="true" spc="-6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VERIFICATION STRIP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3895197" y="9943468"/>
            <a:ext cx="1104976" cy="15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7"/>
              </a:lnSpc>
              <a:spcBef>
                <a:spcPct val="0"/>
              </a:spcBef>
            </a:pPr>
            <a:r>
              <a:rPr lang="en-US" sz="1081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v</a:t>
            </a:r>
            <a:r>
              <a:rPr lang="en-US" sz="1081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alence checked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171569" y="9946074"/>
            <a:ext cx="1324555" cy="15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9"/>
              </a:lnSpc>
              <a:spcBef>
                <a:spcPct val="0"/>
              </a:spcBef>
            </a:pPr>
            <a:r>
              <a:rPr lang="en-US" sz="1074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bo</a:t>
            </a:r>
            <a:r>
              <a:rPr lang="en-US" sz="1074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nd order checked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5404073" y="9953918"/>
            <a:ext cx="1869150" cy="151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  <a:spcBef>
                <a:spcPct val="0"/>
              </a:spcBef>
            </a:pPr>
            <a:r>
              <a:rPr lang="en-US" sz="1080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same co</a:t>
            </a:r>
            <a:r>
              <a:rPr lang="en-US" sz="1080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nnectivity confirmed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4122518" y="8564499"/>
            <a:ext cx="3061887" cy="44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0"/>
              </a:lnSpc>
              <a:spcBef>
                <a:spcPct val="0"/>
              </a:spcBef>
            </a:pPr>
            <a:r>
              <a:rPr lang="en-US" b="true" sz="967" spc="-38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Ethyl acet</a:t>
            </a:r>
            <a:r>
              <a:rPr lang="en-US" b="true" sz="967" spc="-38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ate contains the ester functional group. Esters have a carbonyl carbon bonded to another oxygen, which connects to a carbon group. 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602645" y="10355145"/>
            <a:ext cx="435471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 i="true" spc="-48">
                <a:solidFill>
                  <a:srgbClr val="700C0C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ChE Connection: Solvent Extraction, Coatings, Inks, and Adhesives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591127" y="7733789"/>
            <a:ext cx="2623076" cy="21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  <a:spcBef>
                <a:spcPct val="0"/>
              </a:spcBef>
            </a:pPr>
            <a:r>
              <a:rPr lang="en-US" b="true" sz="1257" spc="-50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CH₃C(=</a:t>
            </a:r>
            <a:r>
              <a:rPr lang="en-US" b="true" sz="1257" spc="-50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O)OCH₂CH₃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566000" y="156600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7560000"/>
                </a:moveTo>
                <a:lnTo>
                  <a:pt x="0" y="0"/>
                </a:ln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close/>
              </a:path>
            </a:pathLst>
          </a:custGeom>
          <a:blipFill>
            <a:blip r:embed="rId2"/>
            <a:stretch>
              <a:fillRect l="-3063" t="0" r="-306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498" y="8976405"/>
            <a:ext cx="7255003" cy="1226340"/>
            <a:chOff x="0" y="0"/>
            <a:chExt cx="9128989" cy="15431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28989" cy="1543107"/>
            </a:xfrm>
            <a:custGeom>
              <a:avLst/>
              <a:gdLst/>
              <a:ahLst/>
              <a:cxnLst/>
              <a:rect r="r" b="b" t="t" l="l"/>
              <a:pathLst>
                <a:path h="1543107" w="9128989">
                  <a:moveTo>
                    <a:pt x="26468" y="0"/>
                  </a:moveTo>
                  <a:lnTo>
                    <a:pt x="9102521" y="0"/>
                  </a:lnTo>
                  <a:cubicBezTo>
                    <a:pt x="9109541" y="0"/>
                    <a:pt x="9116273" y="2789"/>
                    <a:pt x="9121237" y="7752"/>
                  </a:cubicBezTo>
                  <a:cubicBezTo>
                    <a:pt x="9126201" y="12716"/>
                    <a:pt x="9128989" y="19448"/>
                    <a:pt x="9128989" y="26468"/>
                  </a:cubicBezTo>
                  <a:lnTo>
                    <a:pt x="9128989" y="1516639"/>
                  </a:lnTo>
                  <a:cubicBezTo>
                    <a:pt x="9128989" y="1523658"/>
                    <a:pt x="9126201" y="1530391"/>
                    <a:pt x="9121237" y="1535354"/>
                  </a:cubicBezTo>
                  <a:cubicBezTo>
                    <a:pt x="9116273" y="1540318"/>
                    <a:pt x="9109541" y="1543107"/>
                    <a:pt x="9102521" y="1543107"/>
                  </a:cubicBezTo>
                  <a:lnTo>
                    <a:pt x="26468" y="1543107"/>
                  </a:lnTo>
                  <a:cubicBezTo>
                    <a:pt x="11850" y="1543107"/>
                    <a:pt x="0" y="1531257"/>
                    <a:pt x="0" y="1516639"/>
                  </a:cubicBezTo>
                  <a:lnTo>
                    <a:pt x="0" y="26468"/>
                  </a:lnTo>
                  <a:cubicBezTo>
                    <a:pt x="0" y="11850"/>
                    <a:pt x="11850" y="0"/>
                    <a:pt x="2646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9128989" cy="1562157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6499" y="1234171"/>
            <a:ext cx="3594051" cy="3745667"/>
            <a:chOff x="0" y="0"/>
            <a:chExt cx="4676784" cy="4874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76784" cy="4874075"/>
            </a:xfrm>
            <a:custGeom>
              <a:avLst/>
              <a:gdLst/>
              <a:ahLst/>
              <a:cxnLst/>
              <a:rect r="r" b="b" t="t" l="l"/>
              <a:pathLst>
                <a:path h="4874075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820647"/>
                  </a:lnTo>
                  <a:cubicBezTo>
                    <a:pt x="4676784" y="4850154"/>
                    <a:pt x="4652863" y="4874075"/>
                    <a:pt x="4623356" y="4874075"/>
                  </a:cubicBezTo>
                  <a:lnTo>
                    <a:pt x="53428" y="4874075"/>
                  </a:lnTo>
                  <a:cubicBezTo>
                    <a:pt x="23921" y="4874075"/>
                    <a:pt x="0" y="4850154"/>
                    <a:pt x="0" y="4820647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4676784" cy="4893125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16499" y="1746298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3856436" y="1260876"/>
            <a:ext cx="3594051" cy="3745667"/>
            <a:chOff x="0" y="0"/>
            <a:chExt cx="4676784" cy="48740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76784" cy="4874075"/>
            </a:xfrm>
            <a:custGeom>
              <a:avLst/>
              <a:gdLst/>
              <a:ahLst/>
              <a:cxnLst/>
              <a:rect r="r" b="b" t="t" l="l"/>
              <a:pathLst>
                <a:path h="4874075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820647"/>
                  </a:lnTo>
                  <a:cubicBezTo>
                    <a:pt x="4676784" y="4850154"/>
                    <a:pt x="4652863" y="4874075"/>
                    <a:pt x="4623356" y="4874075"/>
                  </a:cubicBezTo>
                  <a:lnTo>
                    <a:pt x="53428" y="4874075"/>
                  </a:lnTo>
                  <a:cubicBezTo>
                    <a:pt x="23921" y="4874075"/>
                    <a:pt x="0" y="4850154"/>
                    <a:pt x="0" y="4820647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676784" cy="4921700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3856436" y="1750903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16499" y="5177187"/>
            <a:ext cx="3594051" cy="3627768"/>
            <a:chOff x="0" y="0"/>
            <a:chExt cx="4676784" cy="47206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76784" cy="4720658"/>
            </a:xfrm>
            <a:custGeom>
              <a:avLst/>
              <a:gdLst/>
              <a:ahLst/>
              <a:cxnLst/>
              <a:rect r="r" b="b" t="t" l="l"/>
              <a:pathLst>
                <a:path h="4720658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667230"/>
                  </a:lnTo>
                  <a:cubicBezTo>
                    <a:pt x="4676784" y="4696738"/>
                    <a:pt x="4652863" y="4720658"/>
                    <a:pt x="4623356" y="4720658"/>
                  </a:cubicBezTo>
                  <a:lnTo>
                    <a:pt x="53428" y="4720658"/>
                  </a:lnTo>
                  <a:cubicBezTo>
                    <a:pt x="23921" y="4720658"/>
                    <a:pt x="0" y="4696738"/>
                    <a:pt x="0" y="4667230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4676784" cy="4739709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116499" y="5644050"/>
            <a:ext cx="3594051" cy="23164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3856436" y="5149417"/>
            <a:ext cx="3594051" cy="3627768"/>
            <a:chOff x="0" y="0"/>
            <a:chExt cx="4676784" cy="47206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76784" cy="4720658"/>
            </a:xfrm>
            <a:custGeom>
              <a:avLst/>
              <a:gdLst/>
              <a:ahLst/>
              <a:cxnLst/>
              <a:rect r="r" b="b" t="t" l="l"/>
              <a:pathLst>
                <a:path h="4720658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667230"/>
                  </a:lnTo>
                  <a:cubicBezTo>
                    <a:pt x="4676784" y="4696738"/>
                    <a:pt x="4652863" y="4720658"/>
                    <a:pt x="4623356" y="4720658"/>
                  </a:cubicBezTo>
                  <a:lnTo>
                    <a:pt x="53428" y="4720658"/>
                  </a:lnTo>
                  <a:cubicBezTo>
                    <a:pt x="23921" y="4720658"/>
                    <a:pt x="0" y="4696738"/>
                    <a:pt x="0" y="4667230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676784" cy="4768284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3856436" y="5639445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375999" y="9476671"/>
            <a:ext cx="204424" cy="204424"/>
          </a:xfrm>
          <a:custGeom>
            <a:avLst/>
            <a:gdLst/>
            <a:ahLst/>
            <a:cxnLst/>
            <a:rect r="r" b="b" t="t" l="l"/>
            <a:pathLst>
              <a:path h="204424" w="204424">
                <a:moveTo>
                  <a:pt x="0" y="0"/>
                </a:moveTo>
                <a:lnTo>
                  <a:pt x="204424" y="0"/>
                </a:lnTo>
                <a:lnTo>
                  <a:pt x="204424" y="204424"/>
                </a:lnTo>
                <a:lnTo>
                  <a:pt x="0" y="204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128796" y="9476671"/>
            <a:ext cx="205596" cy="205596"/>
          </a:xfrm>
          <a:custGeom>
            <a:avLst/>
            <a:gdLst/>
            <a:ahLst/>
            <a:cxnLst/>
            <a:rect r="r" b="b" t="t" l="l"/>
            <a:pathLst>
              <a:path h="205596" w="205596">
                <a:moveTo>
                  <a:pt x="0" y="0"/>
                </a:moveTo>
                <a:lnTo>
                  <a:pt x="205596" y="0"/>
                </a:lnTo>
                <a:lnTo>
                  <a:pt x="205596" y="205596"/>
                </a:lnTo>
                <a:lnTo>
                  <a:pt x="0" y="205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75999" y="9826395"/>
            <a:ext cx="204747" cy="204747"/>
          </a:xfrm>
          <a:custGeom>
            <a:avLst/>
            <a:gdLst/>
            <a:ahLst/>
            <a:cxnLst/>
            <a:rect r="r" b="b" t="t" l="l"/>
            <a:pathLst>
              <a:path h="204747" w="204747">
                <a:moveTo>
                  <a:pt x="0" y="0"/>
                </a:moveTo>
                <a:lnTo>
                  <a:pt x="204747" y="0"/>
                </a:lnTo>
                <a:lnTo>
                  <a:pt x="204747" y="204748"/>
                </a:lnTo>
                <a:lnTo>
                  <a:pt x="0" y="2047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128796" y="9838066"/>
            <a:ext cx="204797" cy="204797"/>
          </a:xfrm>
          <a:custGeom>
            <a:avLst/>
            <a:gdLst/>
            <a:ahLst/>
            <a:cxnLst/>
            <a:rect r="r" b="b" t="t" l="l"/>
            <a:pathLst>
              <a:path h="204797" w="204797">
                <a:moveTo>
                  <a:pt x="0" y="0"/>
                </a:moveTo>
                <a:lnTo>
                  <a:pt x="204797" y="0"/>
                </a:lnTo>
                <a:lnTo>
                  <a:pt x="204797" y="204796"/>
                </a:lnTo>
                <a:lnTo>
                  <a:pt x="0" y="204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4477864" y="1910165"/>
            <a:ext cx="2326136" cy="2852952"/>
            <a:chOff x="0" y="0"/>
            <a:chExt cx="3101515" cy="3803936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1433179" y="561483"/>
              <a:ext cx="265304" cy="5155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5"/>
                </a:lnSpc>
                <a:spcBef>
                  <a:spcPct val="0"/>
                </a:spcBef>
              </a:pPr>
              <a:r>
                <a:rPr lang="en-US" b="true" sz="2310" spc="-9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28" id="28"/>
            <p:cNvSpPr/>
            <p:nvPr/>
          </p:nvSpPr>
          <p:spPr>
            <a:xfrm flipH="true">
              <a:off x="938306" y="926694"/>
              <a:ext cx="460052" cy="391862"/>
            </a:xfrm>
            <a:prstGeom prst="line">
              <a:avLst/>
            </a:prstGeom>
            <a:ln cap="flat" w="195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9" id="29"/>
            <p:cNvSpPr txBox="true"/>
            <p:nvPr/>
          </p:nvSpPr>
          <p:spPr>
            <a:xfrm rot="0">
              <a:off x="700765" y="1202018"/>
              <a:ext cx="265304" cy="5155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5"/>
                </a:lnSpc>
                <a:spcBef>
                  <a:spcPct val="0"/>
                </a:spcBef>
              </a:pPr>
              <a:r>
                <a:rPr lang="en-US" b="true" sz="2310" spc="-9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30" id="30"/>
            <p:cNvSpPr/>
            <p:nvPr/>
          </p:nvSpPr>
          <p:spPr>
            <a:xfrm flipH="true">
              <a:off x="837254" y="1688295"/>
              <a:ext cx="0" cy="551378"/>
            </a:xfrm>
            <a:prstGeom prst="line">
              <a:avLst/>
            </a:prstGeom>
            <a:ln cap="flat" w="195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1" id="31"/>
            <p:cNvSpPr txBox="true"/>
            <p:nvPr/>
          </p:nvSpPr>
          <p:spPr>
            <a:xfrm rot="0">
              <a:off x="684512" y="2128768"/>
              <a:ext cx="265304" cy="5155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5"/>
                </a:lnSpc>
                <a:spcBef>
                  <a:spcPct val="0"/>
                </a:spcBef>
              </a:pPr>
              <a:r>
                <a:rPr lang="en-US" b="true" sz="2310" spc="-9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32" id="32"/>
            <p:cNvSpPr/>
            <p:nvPr/>
          </p:nvSpPr>
          <p:spPr>
            <a:xfrm flipH="true" flipV="true">
              <a:off x="904898" y="2616938"/>
              <a:ext cx="512960" cy="319493"/>
            </a:xfrm>
            <a:prstGeom prst="line">
              <a:avLst/>
            </a:prstGeom>
            <a:ln cap="flat" w="195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3" id="33"/>
            <p:cNvSpPr txBox="true"/>
            <p:nvPr/>
          </p:nvSpPr>
          <p:spPr>
            <a:xfrm rot="0">
              <a:off x="1433179" y="2654833"/>
              <a:ext cx="265304" cy="5155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5"/>
                </a:lnSpc>
                <a:spcBef>
                  <a:spcPct val="0"/>
                </a:spcBef>
              </a:pPr>
              <a:r>
                <a:rPr lang="en-US" b="true" sz="2310" spc="-9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2192726" y="1202018"/>
              <a:ext cx="265304" cy="5155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5"/>
                </a:lnSpc>
                <a:spcBef>
                  <a:spcPct val="0"/>
                </a:spcBef>
              </a:pPr>
              <a:r>
                <a:rPr lang="en-US" b="true" sz="2310" spc="-9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35" id="35"/>
            <p:cNvSpPr/>
            <p:nvPr/>
          </p:nvSpPr>
          <p:spPr>
            <a:xfrm flipH="true">
              <a:off x="2329214" y="1688295"/>
              <a:ext cx="0" cy="551378"/>
            </a:xfrm>
            <a:prstGeom prst="line">
              <a:avLst/>
            </a:prstGeom>
            <a:ln cap="flat" w="195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6" id="36"/>
            <p:cNvSpPr txBox="true"/>
            <p:nvPr/>
          </p:nvSpPr>
          <p:spPr>
            <a:xfrm rot="0">
              <a:off x="2176472" y="2128768"/>
              <a:ext cx="265304" cy="5155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5"/>
                </a:lnSpc>
                <a:spcBef>
                  <a:spcPct val="0"/>
                </a:spcBef>
              </a:pPr>
              <a:r>
                <a:rPr lang="en-US" b="true" sz="2310" spc="-9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37" id="37"/>
            <p:cNvSpPr/>
            <p:nvPr/>
          </p:nvSpPr>
          <p:spPr>
            <a:xfrm flipH="true">
              <a:off x="1747345" y="2600411"/>
              <a:ext cx="492897" cy="349653"/>
            </a:xfrm>
            <a:prstGeom prst="line">
              <a:avLst/>
            </a:prstGeom>
            <a:ln cap="flat" w="195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 flipH="true" flipV="true">
              <a:off x="1753430" y="936464"/>
              <a:ext cx="555694" cy="359100"/>
            </a:xfrm>
            <a:prstGeom prst="line">
              <a:avLst/>
            </a:prstGeom>
            <a:ln cap="flat" w="195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9" id="39"/>
            <p:cNvSpPr/>
            <p:nvPr/>
          </p:nvSpPr>
          <p:spPr>
            <a:xfrm flipH="true" flipV="true">
              <a:off x="2485142" y="1577696"/>
              <a:ext cx="322553" cy="38686"/>
            </a:xfrm>
            <a:prstGeom prst="line">
              <a:avLst/>
            </a:prstGeom>
            <a:ln cap="flat" w="195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0" id="40"/>
            <p:cNvSpPr txBox="true"/>
            <p:nvPr/>
          </p:nvSpPr>
          <p:spPr>
            <a:xfrm rot="0">
              <a:off x="2820575" y="1359022"/>
              <a:ext cx="264403" cy="474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60"/>
                </a:lnSpc>
                <a:spcBef>
                  <a:spcPct val="0"/>
                </a:spcBef>
              </a:pPr>
              <a:r>
                <a:rPr lang="en-US" b="true" sz="2114" spc="-8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41" id="41"/>
            <p:cNvSpPr/>
            <p:nvPr/>
          </p:nvSpPr>
          <p:spPr>
            <a:xfrm flipH="true">
              <a:off x="2498744" y="1296353"/>
              <a:ext cx="320455" cy="87536"/>
            </a:xfrm>
            <a:prstGeom prst="line">
              <a:avLst/>
            </a:prstGeom>
            <a:ln cap="flat" w="195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2" id="42"/>
            <p:cNvSpPr txBox="true"/>
            <p:nvPr/>
          </p:nvSpPr>
          <p:spPr>
            <a:xfrm rot="0">
              <a:off x="2820575" y="954898"/>
              <a:ext cx="264403" cy="474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60"/>
                </a:lnSpc>
                <a:spcBef>
                  <a:spcPct val="0"/>
                </a:spcBef>
              </a:pPr>
              <a:r>
                <a:rPr lang="en-US" b="true" sz="2114" spc="-8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43" id="43"/>
            <p:cNvSpPr/>
            <p:nvPr/>
          </p:nvSpPr>
          <p:spPr>
            <a:xfrm flipH="true" flipV="true">
              <a:off x="2467377" y="2544304"/>
              <a:ext cx="308166" cy="102816"/>
            </a:xfrm>
            <a:prstGeom prst="line">
              <a:avLst/>
            </a:prstGeom>
            <a:ln cap="flat" w="195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4" id="44"/>
            <p:cNvSpPr txBox="true"/>
            <p:nvPr/>
          </p:nvSpPr>
          <p:spPr>
            <a:xfrm rot="0">
              <a:off x="2775542" y="2424796"/>
              <a:ext cx="264403" cy="474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60"/>
                </a:lnSpc>
                <a:spcBef>
                  <a:spcPct val="0"/>
                </a:spcBef>
              </a:pPr>
              <a:r>
                <a:rPr lang="en-US" b="true" sz="2114" spc="-8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45" id="45"/>
            <p:cNvSpPr/>
            <p:nvPr/>
          </p:nvSpPr>
          <p:spPr>
            <a:xfrm flipH="true">
              <a:off x="2486981" y="2318579"/>
              <a:ext cx="340619" cy="55125"/>
            </a:xfrm>
            <a:prstGeom prst="line">
              <a:avLst/>
            </a:prstGeom>
            <a:ln cap="flat" w="195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6" id="46"/>
            <p:cNvSpPr txBox="true"/>
            <p:nvPr/>
          </p:nvSpPr>
          <p:spPr>
            <a:xfrm rot="0">
              <a:off x="2837111" y="2047528"/>
              <a:ext cx="264403" cy="474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60"/>
                </a:lnSpc>
                <a:spcBef>
                  <a:spcPct val="0"/>
                </a:spcBef>
              </a:pPr>
              <a:r>
                <a:rPr lang="en-US" b="true" sz="2114" spc="-8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47" id="47"/>
            <p:cNvSpPr/>
            <p:nvPr/>
          </p:nvSpPr>
          <p:spPr>
            <a:xfrm flipH="true">
              <a:off x="1655895" y="363590"/>
              <a:ext cx="54483" cy="306740"/>
            </a:xfrm>
            <a:prstGeom prst="line">
              <a:avLst/>
            </a:prstGeom>
            <a:ln cap="flat" w="195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8" id="48"/>
            <p:cNvSpPr txBox="true"/>
            <p:nvPr/>
          </p:nvSpPr>
          <p:spPr>
            <a:xfrm rot="0">
              <a:off x="1588287" y="-47625"/>
              <a:ext cx="264403" cy="474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60"/>
                </a:lnSpc>
                <a:spcBef>
                  <a:spcPct val="0"/>
                </a:spcBef>
              </a:pPr>
              <a:r>
                <a:rPr lang="en-US" b="true" sz="2114" spc="-8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49" id="49"/>
            <p:cNvSpPr/>
            <p:nvPr/>
          </p:nvSpPr>
          <p:spPr>
            <a:xfrm>
              <a:off x="1403300" y="363386"/>
              <a:ext cx="67431" cy="306944"/>
            </a:xfrm>
            <a:prstGeom prst="line">
              <a:avLst/>
            </a:prstGeom>
            <a:ln cap="flat" w="195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0" id="50"/>
            <p:cNvSpPr txBox="true"/>
            <p:nvPr/>
          </p:nvSpPr>
          <p:spPr>
            <a:xfrm rot="0">
              <a:off x="1235464" y="-47625"/>
              <a:ext cx="264403" cy="474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60"/>
                </a:lnSpc>
                <a:spcBef>
                  <a:spcPct val="0"/>
                </a:spcBef>
              </a:pPr>
              <a:r>
                <a:rPr lang="en-US" b="true" sz="2114" spc="-8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51" id="51"/>
            <p:cNvSpPr/>
            <p:nvPr/>
          </p:nvSpPr>
          <p:spPr>
            <a:xfrm flipV="true">
              <a:off x="1417777" y="3112255"/>
              <a:ext cx="54483" cy="306740"/>
            </a:xfrm>
            <a:prstGeom prst="line">
              <a:avLst/>
            </a:prstGeom>
            <a:ln cap="flat" w="195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2" id="52"/>
            <p:cNvSpPr txBox="true"/>
            <p:nvPr/>
          </p:nvSpPr>
          <p:spPr>
            <a:xfrm rot="0">
              <a:off x="1597666" y="3329167"/>
              <a:ext cx="264403" cy="474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60"/>
                </a:lnSpc>
                <a:spcBef>
                  <a:spcPct val="0"/>
                </a:spcBef>
              </a:pPr>
              <a:r>
                <a:rPr lang="en-US" b="true" sz="2114" spc="-8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53" id="53"/>
            <p:cNvSpPr/>
            <p:nvPr/>
          </p:nvSpPr>
          <p:spPr>
            <a:xfrm flipH="true" flipV="true">
              <a:off x="1657424" y="3112255"/>
              <a:ext cx="67431" cy="306944"/>
            </a:xfrm>
            <a:prstGeom prst="line">
              <a:avLst/>
            </a:prstGeom>
            <a:ln cap="flat" w="195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4" id="54"/>
            <p:cNvSpPr txBox="true"/>
            <p:nvPr/>
          </p:nvSpPr>
          <p:spPr>
            <a:xfrm rot="0">
              <a:off x="1244842" y="3329167"/>
              <a:ext cx="264403" cy="474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60"/>
                </a:lnSpc>
                <a:spcBef>
                  <a:spcPct val="0"/>
                </a:spcBef>
              </a:pPr>
              <a:r>
                <a:rPr lang="en-US" b="true" sz="2114" spc="-8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55" id="55"/>
            <p:cNvSpPr/>
            <p:nvPr/>
          </p:nvSpPr>
          <p:spPr>
            <a:xfrm>
              <a:off x="349490" y="2255386"/>
              <a:ext cx="314654" cy="80808"/>
            </a:xfrm>
            <a:prstGeom prst="line">
              <a:avLst/>
            </a:prstGeom>
            <a:ln cap="flat" w="195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6" id="56"/>
            <p:cNvSpPr/>
            <p:nvPr/>
          </p:nvSpPr>
          <p:spPr>
            <a:xfrm flipV="true">
              <a:off x="320752" y="2507753"/>
              <a:ext cx="335879" cy="79029"/>
            </a:xfrm>
            <a:prstGeom prst="line">
              <a:avLst/>
            </a:prstGeom>
            <a:ln cap="flat" w="195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7" id="57"/>
            <p:cNvSpPr txBox="true"/>
            <p:nvPr/>
          </p:nvSpPr>
          <p:spPr>
            <a:xfrm rot="0">
              <a:off x="0" y="2316487"/>
              <a:ext cx="264403" cy="474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60"/>
                </a:lnSpc>
                <a:spcBef>
                  <a:spcPct val="0"/>
                </a:spcBef>
              </a:pPr>
              <a:r>
                <a:rPr lang="en-US" b="true" sz="2114" spc="-8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46039" y="1939220"/>
              <a:ext cx="264403" cy="474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60"/>
                </a:lnSpc>
                <a:spcBef>
                  <a:spcPct val="0"/>
                </a:spcBef>
              </a:pPr>
              <a:r>
                <a:rPr lang="en-US" b="true" sz="2114" spc="-8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59" id="59"/>
            <p:cNvSpPr/>
            <p:nvPr/>
          </p:nvSpPr>
          <p:spPr>
            <a:xfrm>
              <a:off x="347234" y="1309431"/>
              <a:ext cx="343420" cy="74458"/>
            </a:xfrm>
            <a:prstGeom prst="line">
              <a:avLst/>
            </a:prstGeom>
            <a:ln cap="flat" w="195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0" id="60"/>
            <p:cNvSpPr/>
            <p:nvPr/>
          </p:nvSpPr>
          <p:spPr>
            <a:xfrm flipV="true">
              <a:off x="330141" y="1561672"/>
              <a:ext cx="342324" cy="43292"/>
            </a:xfrm>
            <a:prstGeom prst="line">
              <a:avLst/>
            </a:prstGeom>
            <a:ln cap="flat" w="195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1" id="61"/>
            <p:cNvSpPr txBox="true"/>
            <p:nvPr/>
          </p:nvSpPr>
          <p:spPr>
            <a:xfrm rot="0">
              <a:off x="29764" y="1347512"/>
              <a:ext cx="264403" cy="474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60"/>
                </a:lnSpc>
                <a:spcBef>
                  <a:spcPct val="0"/>
                </a:spcBef>
              </a:pPr>
              <a:r>
                <a:rPr lang="en-US" b="true" sz="2114" spc="-8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48119" y="951061"/>
              <a:ext cx="264403" cy="474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60"/>
                </a:lnSpc>
                <a:spcBef>
                  <a:spcPct val="0"/>
                </a:spcBef>
              </a:pPr>
              <a:r>
                <a:rPr lang="en-US" b="true" sz="2114" spc="-8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4435681" y="5639445"/>
            <a:ext cx="2435560" cy="2488221"/>
          </a:xfrm>
          <a:custGeom>
            <a:avLst/>
            <a:gdLst/>
            <a:ahLst/>
            <a:cxnLst/>
            <a:rect r="r" b="b" t="t" l="l"/>
            <a:pathLst>
              <a:path h="2488221" w="2435560">
                <a:moveTo>
                  <a:pt x="0" y="0"/>
                </a:moveTo>
                <a:lnTo>
                  <a:pt x="2435560" y="0"/>
                </a:lnTo>
                <a:lnTo>
                  <a:pt x="2435560" y="2488221"/>
                </a:lnTo>
                <a:lnTo>
                  <a:pt x="0" y="24882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1615738" y="9495609"/>
            <a:ext cx="1598251" cy="183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7"/>
              </a:lnSpc>
              <a:spcBef>
                <a:spcPct val="0"/>
              </a:spcBef>
            </a:pPr>
            <a:r>
              <a:rPr lang="en-US" sz="1296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atom count verified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91450" y="127782"/>
            <a:ext cx="2617705" cy="60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  <a:spcBef>
                <a:spcPct val="0"/>
              </a:spcBef>
            </a:pPr>
            <a:r>
              <a:rPr lang="en-US" b="true" sz="3459" spc="-138">
                <a:solidFill>
                  <a:srgbClr val="000001"/>
                </a:solidFill>
                <a:latin typeface="Aileron Bold"/>
                <a:ea typeface="Aileron Bold"/>
                <a:cs typeface="Aileron Bold"/>
                <a:sym typeface="Aileron Bold"/>
              </a:rPr>
              <a:t>CARD 06 ―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768652" y="83451"/>
            <a:ext cx="3435050" cy="63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5"/>
              </a:lnSpc>
              <a:spcBef>
                <a:spcPct val="0"/>
              </a:spcBef>
            </a:pPr>
            <a:r>
              <a:rPr lang="en-US" sz="3753" spc="-150">
                <a:solidFill>
                  <a:srgbClr val="BD1B1B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CYCLOHEXANE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715030" y="826755"/>
            <a:ext cx="4129940" cy="22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2"/>
              </a:lnSpc>
              <a:spcBef>
                <a:spcPct val="0"/>
              </a:spcBef>
            </a:pPr>
            <a:r>
              <a:rPr lang="en-US" b="true" sz="1600" spc="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“THE FIRST RING”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6203702" y="237967"/>
            <a:ext cx="84333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-92">
                <a:solidFill>
                  <a:srgbClr val="BD1B1B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(C₆H₁₂)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321545" y="1291744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1. MOLECULAR FORMULA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32262" y="2545476"/>
            <a:ext cx="1762524" cy="71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1"/>
              </a:lnSpc>
              <a:spcBef>
                <a:spcPct val="0"/>
              </a:spcBef>
            </a:pPr>
            <a:r>
              <a:rPr lang="en-US" b="true" sz="4158" spc="-16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C₆H₁₂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638378" y="3365109"/>
            <a:ext cx="2623076" cy="21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  <a:spcBef>
                <a:spcPct val="0"/>
              </a:spcBef>
            </a:pPr>
            <a:r>
              <a:rPr lang="en-US" b="true" sz="1257" spc="-50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6 C </a:t>
            </a:r>
            <a:r>
              <a:rPr lang="en-US" b="true" sz="1257" spc="-50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+ 12 H = 18 atoms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4061482" y="1291744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2</a:t>
            </a: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LEWIS STRUCTURE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16499" y="5269455"/>
            <a:ext cx="3572331" cy="25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0"/>
              </a:lnSpc>
              <a:spcBef>
                <a:spcPct val="0"/>
              </a:spcBef>
            </a:pPr>
            <a:r>
              <a:rPr lang="en-US" b="true" sz="1450" i="true" spc="-5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3</a:t>
            </a:r>
            <a:r>
              <a:rPr lang="en-US" b="true" sz="1450" i="true" spc="-5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CONDENSED STRUCTURAL FORMULA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378238" y="6624577"/>
            <a:ext cx="2997790" cy="66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15"/>
              </a:lnSpc>
              <a:spcBef>
                <a:spcPct val="0"/>
              </a:spcBef>
            </a:pPr>
            <a:r>
              <a:rPr lang="en-US" b="true" sz="3867" spc="-15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(CH₂)₆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4061482" y="5179790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4</a:t>
            </a: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BOND-LINE FORMULA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2205153" y="9052605"/>
            <a:ext cx="3149694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 i="true" spc="-6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VERIFICATION STRIP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4377585" y="9495663"/>
            <a:ext cx="1331920" cy="184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  <a:spcBef>
                <a:spcPct val="0"/>
              </a:spcBef>
            </a:pPr>
            <a:r>
              <a:rPr lang="en-US" sz="1303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v</a:t>
            </a:r>
            <a:r>
              <a:rPr lang="en-US" sz="1303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alence checked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626893" y="9845348"/>
            <a:ext cx="1600778" cy="183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9"/>
              </a:lnSpc>
              <a:spcBef>
                <a:spcPct val="0"/>
              </a:spcBef>
            </a:pPr>
            <a:r>
              <a:rPr lang="en-US" sz="1298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bo</a:t>
            </a:r>
            <a:r>
              <a:rPr lang="en-US" sz="1298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nd order checked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4376579" y="9857020"/>
            <a:ext cx="2246837" cy="18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9"/>
              </a:lnSpc>
              <a:spcBef>
                <a:spcPct val="0"/>
              </a:spcBef>
            </a:pPr>
            <a:r>
              <a:rPr lang="en-US" sz="1298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same co</a:t>
            </a:r>
            <a:r>
              <a:rPr lang="en-US" sz="1298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nnectivity confirmed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3976948" y="8127666"/>
            <a:ext cx="3327969" cy="44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0"/>
              </a:lnSpc>
              <a:spcBef>
                <a:spcPct val="0"/>
              </a:spcBef>
            </a:pPr>
            <a:r>
              <a:rPr lang="en-US" b="true" sz="967" spc="-38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Cyclo</a:t>
            </a:r>
            <a:r>
              <a:rPr lang="en-US" b="true" sz="967" spc="-38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hexane is a cyclic alkane consisting of six carbon atoms linked in a ring with single bonds. Each carbon atom is bonded to two neighboring carbons and two hydrogen atoms.  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993045" y="10317045"/>
            <a:ext cx="557391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 i="true" spc="-48">
                <a:solidFill>
                  <a:srgbClr val="700C0C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ChE Connection: Petroleum Processing, Nylon Production, and Industrial Feedstocks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566000" y="156600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7560000"/>
                </a:moveTo>
                <a:lnTo>
                  <a:pt x="0" y="0"/>
                </a:ln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close/>
              </a:path>
            </a:pathLst>
          </a:custGeom>
          <a:blipFill>
            <a:blip r:embed="rId2"/>
            <a:stretch>
              <a:fillRect l="-3063" t="0" r="-306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498" y="8976405"/>
            <a:ext cx="7255003" cy="1226340"/>
            <a:chOff x="0" y="0"/>
            <a:chExt cx="9128989" cy="15431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28989" cy="1543107"/>
            </a:xfrm>
            <a:custGeom>
              <a:avLst/>
              <a:gdLst/>
              <a:ahLst/>
              <a:cxnLst/>
              <a:rect r="r" b="b" t="t" l="l"/>
              <a:pathLst>
                <a:path h="1543107" w="9128989">
                  <a:moveTo>
                    <a:pt x="26468" y="0"/>
                  </a:moveTo>
                  <a:lnTo>
                    <a:pt x="9102521" y="0"/>
                  </a:lnTo>
                  <a:cubicBezTo>
                    <a:pt x="9109541" y="0"/>
                    <a:pt x="9116273" y="2789"/>
                    <a:pt x="9121237" y="7752"/>
                  </a:cubicBezTo>
                  <a:cubicBezTo>
                    <a:pt x="9126201" y="12716"/>
                    <a:pt x="9128989" y="19448"/>
                    <a:pt x="9128989" y="26468"/>
                  </a:cubicBezTo>
                  <a:lnTo>
                    <a:pt x="9128989" y="1516639"/>
                  </a:lnTo>
                  <a:cubicBezTo>
                    <a:pt x="9128989" y="1523658"/>
                    <a:pt x="9126201" y="1530391"/>
                    <a:pt x="9121237" y="1535354"/>
                  </a:cubicBezTo>
                  <a:cubicBezTo>
                    <a:pt x="9116273" y="1540318"/>
                    <a:pt x="9109541" y="1543107"/>
                    <a:pt x="9102521" y="1543107"/>
                  </a:cubicBezTo>
                  <a:lnTo>
                    <a:pt x="26468" y="1543107"/>
                  </a:lnTo>
                  <a:cubicBezTo>
                    <a:pt x="11850" y="1543107"/>
                    <a:pt x="0" y="1531257"/>
                    <a:pt x="0" y="1516639"/>
                  </a:cubicBezTo>
                  <a:lnTo>
                    <a:pt x="0" y="26468"/>
                  </a:lnTo>
                  <a:cubicBezTo>
                    <a:pt x="0" y="11850"/>
                    <a:pt x="11850" y="0"/>
                    <a:pt x="2646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9128989" cy="1562157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6499" y="1234171"/>
            <a:ext cx="3594051" cy="3745667"/>
            <a:chOff x="0" y="0"/>
            <a:chExt cx="4676784" cy="4874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76784" cy="4874075"/>
            </a:xfrm>
            <a:custGeom>
              <a:avLst/>
              <a:gdLst/>
              <a:ahLst/>
              <a:cxnLst/>
              <a:rect r="r" b="b" t="t" l="l"/>
              <a:pathLst>
                <a:path h="4874075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820647"/>
                  </a:lnTo>
                  <a:cubicBezTo>
                    <a:pt x="4676784" y="4850154"/>
                    <a:pt x="4652863" y="4874075"/>
                    <a:pt x="4623356" y="4874075"/>
                  </a:cubicBezTo>
                  <a:lnTo>
                    <a:pt x="53428" y="4874075"/>
                  </a:lnTo>
                  <a:cubicBezTo>
                    <a:pt x="23921" y="4874075"/>
                    <a:pt x="0" y="4850154"/>
                    <a:pt x="0" y="4820647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4676784" cy="4893125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16499" y="1746298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3856436" y="1260876"/>
            <a:ext cx="3594051" cy="3745667"/>
            <a:chOff x="0" y="0"/>
            <a:chExt cx="4676784" cy="48740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76784" cy="4874075"/>
            </a:xfrm>
            <a:custGeom>
              <a:avLst/>
              <a:gdLst/>
              <a:ahLst/>
              <a:cxnLst/>
              <a:rect r="r" b="b" t="t" l="l"/>
              <a:pathLst>
                <a:path h="4874075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820647"/>
                  </a:lnTo>
                  <a:cubicBezTo>
                    <a:pt x="4676784" y="4850154"/>
                    <a:pt x="4652863" y="4874075"/>
                    <a:pt x="4623356" y="4874075"/>
                  </a:cubicBezTo>
                  <a:lnTo>
                    <a:pt x="53428" y="4874075"/>
                  </a:lnTo>
                  <a:cubicBezTo>
                    <a:pt x="23921" y="4874075"/>
                    <a:pt x="0" y="4850154"/>
                    <a:pt x="0" y="4820647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676784" cy="4921700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3856436" y="1750903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16499" y="5177187"/>
            <a:ext cx="3594051" cy="3627768"/>
            <a:chOff x="0" y="0"/>
            <a:chExt cx="4676784" cy="47206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76784" cy="4720658"/>
            </a:xfrm>
            <a:custGeom>
              <a:avLst/>
              <a:gdLst/>
              <a:ahLst/>
              <a:cxnLst/>
              <a:rect r="r" b="b" t="t" l="l"/>
              <a:pathLst>
                <a:path h="4720658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667230"/>
                  </a:lnTo>
                  <a:cubicBezTo>
                    <a:pt x="4676784" y="4696738"/>
                    <a:pt x="4652863" y="4720658"/>
                    <a:pt x="4623356" y="4720658"/>
                  </a:cubicBezTo>
                  <a:lnTo>
                    <a:pt x="53428" y="4720658"/>
                  </a:lnTo>
                  <a:cubicBezTo>
                    <a:pt x="23921" y="4720658"/>
                    <a:pt x="0" y="4696738"/>
                    <a:pt x="0" y="4667230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4676784" cy="4739709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116499" y="5644050"/>
            <a:ext cx="3594051" cy="23164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3856436" y="5149417"/>
            <a:ext cx="3594051" cy="3627768"/>
            <a:chOff x="0" y="0"/>
            <a:chExt cx="4676784" cy="47206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76784" cy="4720658"/>
            </a:xfrm>
            <a:custGeom>
              <a:avLst/>
              <a:gdLst/>
              <a:ahLst/>
              <a:cxnLst/>
              <a:rect r="r" b="b" t="t" l="l"/>
              <a:pathLst>
                <a:path h="4720658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667230"/>
                  </a:lnTo>
                  <a:cubicBezTo>
                    <a:pt x="4676784" y="4696738"/>
                    <a:pt x="4652863" y="4720658"/>
                    <a:pt x="4623356" y="4720658"/>
                  </a:cubicBezTo>
                  <a:lnTo>
                    <a:pt x="53428" y="4720658"/>
                  </a:lnTo>
                  <a:cubicBezTo>
                    <a:pt x="23921" y="4720658"/>
                    <a:pt x="0" y="4696738"/>
                    <a:pt x="0" y="4667230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676784" cy="4768284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3856436" y="5639445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375999" y="9476671"/>
            <a:ext cx="204424" cy="204424"/>
          </a:xfrm>
          <a:custGeom>
            <a:avLst/>
            <a:gdLst/>
            <a:ahLst/>
            <a:cxnLst/>
            <a:rect r="r" b="b" t="t" l="l"/>
            <a:pathLst>
              <a:path h="204424" w="204424">
                <a:moveTo>
                  <a:pt x="0" y="0"/>
                </a:moveTo>
                <a:lnTo>
                  <a:pt x="204424" y="0"/>
                </a:lnTo>
                <a:lnTo>
                  <a:pt x="204424" y="204424"/>
                </a:lnTo>
                <a:lnTo>
                  <a:pt x="0" y="204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128796" y="9476671"/>
            <a:ext cx="205596" cy="205596"/>
          </a:xfrm>
          <a:custGeom>
            <a:avLst/>
            <a:gdLst/>
            <a:ahLst/>
            <a:cxnLst/>
            <a:rect r="r" b="b" t="t" l="l"/>
            <a:pathLst>
              <a:path h="205596" w="205596">
                <a:moveTo>
                  <a:pt x="0" y="0"/>
                </a:moveTo>
                <a:lnTo>
                  <a:pt x="205596" y="0"/>
                </a:lnTo>
                <a:lnTo>
                  <a:pt x="205596" y="205596"/>
                </a:lnTo>
                <a:lnTo>
                  <a:pt x="0" y="205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75999" y="9826395"/>
            <a:ext cx="204747" cy="204747"/>
          </a:xfrm>
          <a:custGeom>
            <a:avLst/>
            <a:gdLst/>
            <a:ahLst/>
            <a:cxnLst/>
            <a:rect r="r" b="b" t="t" l="l"/>
            <a:pathLst>
              <a:path h="204747" w="204747">
                <a:moveTo>
                  <a:pt x="0" y="0"/>
                </a:moveTo>
                <a:lnTo>
                  <a:pt x="204747" y="0"/>
                </a:lnTo>
                <a:lnTo>
                  <a:pt x="204747" y="204748"/>
                </a:lnTo>
                <a:lnTo>
                  <a:pt x="0" y="2047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128796" y="9838066"/>
            <a:ext cx="204797" cy="204797"/>
          </a:xfrm>
          <a:custGeom>
            <a:avLst/>
            <a:gdLst/>
            <a:ahLst/>
            <a:cxnLst/>
            <a:rect r="r" b="b" t="t" l="l"/>
            <a:pathLst>
              <a:path h="204797" w="204797">
                <a:moveTo>
                  <a:pt x="0" y="0"/>
                </a:moveTo>
                <a:lnTo>
                  <a:pt x="204797" y="0"/>
                </a:lnTo>
                <a:lnTo>
                  <a:pt x="204797" y="204796"/>
                </a:lnTo>
                <a:lnTo>
                  <a:pt x="0" y="204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4474649" y="1860440"/>
            <a:ext cx="2360566" cy="3005742"/>
            <a:chOff x="0" y="0"/>
            <a:chExt cx="3147422" cy="4007656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1454392" y="717915"/>
              <a:ext cx="269231" cy="5224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82"/>
                </a:lnSpc>
                <a:spcBef>
                  <a:spcPct val="0"/>
                </a:spcBef>
              </a:pPr>
              <a:r>
                <a:rPr lang="en-US" b="true" sz="2344" spc="-93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28" id="28"/>
            <p:cNvSpPr/>
            <p:nvPr/>
          </p:nvSpPr>
          <p:spPr>
            <a:xfrm flipH="true">
              <a:off x="952194" y="1087827"/>
              <a:ext cx="466862" cy="397662"/>
            </a:xfrm>
            <a:prstGeom prst="line">
              <a:avLst/>
            </a:prstGeom>
            <a:ln cap="flat" w="25776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9" id="29"/>
            <p:cNvSpPr txBox="true"/>
            <p:nvPr/>
          </p:nvSpPr>
          <p:spPr>
            <a:xfrm rot="0">
              <a:off x="711138" y="1367931"/>
              <a:ext cx="269231" cy="5224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82"/>
                </a:lnSpc>
                <a:spcBef>
                  <a:spcPct val="0"/>
                </a:spcBef>
              </a:pPr>
              <a:r>
                <a:rPr lang="en-US" b="true" sz="2344" spc="-93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30" id="30"/>
            <p:cNvSpPr/>
            <p:nvPr/>
          </p:nvSpPr>
          <p:spPr>
            <a:xfrm flipH="true">
              <a:off x="849647" y="1860700"/>
              <a:ext cx="0" cy="559539"/>
            </a:xfrm>
            <a:prstGeom prst="line">
              <a:avLst/>
            </a:prstGeom>
            <a:ln cap="flat" w="25776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1" id="31"/>
            <p:cNvSpPr txBox="true"/>
            <p:nvPr/>
          </p:nvSpPr>
          <p:spPr>
            <a:xfrm rot="0">
              <a:off x="694644" y="2308398"/>
              <a:ext cx="269231" cy="5224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82"/>
                </a:lnSpc>
                <a:spcBef>
                  <a:spcPct val="0"/>
                </a:spcBef>
              </a:pPr>
              <a:r>
                <a:rPr lang="en-US" b="true" sz="2344" spc="-93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32" id="32"/>
            <p:cNvSpPr/>
            <p:nvPr/>
          </p:nvSpPr>
          <p:spPr>
            <a:xfrm flipH="true" flipV="true">
              <a:off x="918292" y="2803089"/>
              <a:ext cx="520553" cy="324222"/>
            </a:xfrm>
            <a:prstGeom prst="line">
              <a:avLst/>
            </a:prstGeom>
            <a:ln cap="flat" w="25776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3" id="33"/>
            <p:cNvSpPr txBox="true"/>
            <p:nvPr/>
          </p:nvSpPr>
          <p:spPr>
            <a:xfrm rot="0">
              <a:off x="1454392" y="2842250"/>
              <a:ext cx="269231" cy="5224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82"/>
                </a:lnSpc>
                <a:spcBef>
                  <a:spcPct val="0"/>
                </a:spcBef>
              </a:pPr>
              <a:r>
                <a:rPr lang="en-US" b="true" sz="2344" spc="-93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2225181" y="1367931"/>
              <a:ext cx="269231" cy="5224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82"/>
                </a:lnSpc>
                <a:spcBef>
                  <a:spcPct val="0"/>
                </a:spcBef>
              </a:pPr>
              <a:r>
                <a:rPr lang="en-US" b="true" sz="2344" spc="-93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35" id="35"/>
            <p:cNvSpPr/>
            <p:nvPr/>
          </p:nvSpPr>
          <p:spPr>
            <a:xfrm flipH="true">
              <a:off x="2363690" y="1860700"/>
              <a:ext cx="0" cy="559539"/>
            </a:xfrm>
            <a:prstGeom prst="line">
              <a:avLst/>
            </a:prstGeom>
            <a:ln cap="flat" w="25776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6" id="36"/>
            <p:cNvSpPr txBox="true"/>
            <p:nvPr/>
          </p:nvSpPr>
          <p:spPr>
            <a:xfrm rot="0">
              <a:off x="2208687" y="2308398"/>
              <a:ext cx="269231" cy="5224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82"/>
                </a:lnSpc>
                <a:spcBef>
                  <a:spcPct val="0"/>
                </a:spcBef>
              </a:pPr>
              <a:r>
                <a:rPr lang="en-US" b="true" sz="2344" spc="-93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37" id="37"/>
            <p:cNvSpPr/>
            <p:nvPr/>
          </p:nvSpPr>
          <p:spPr>
            <a:xfrm flipH="true">
              <a:off x="1773209" y="2786318"/>
              <a:ext cx="500192" cy="354828"/>
            </a:xfrm>
            <a:prstGeom prst="line">
              <a:avLst/>
            </a:prstGeom>
            <a:ln cap="flat" w="25776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 flipH="true" flipV="true">
              <a:off x="1779384" y="1097741"/>
              <a:ext cx="563919" cy="364415"/>
            </a:xfrm>
            <a:prstGeom prst="line">
              <a:avLst/>
            </a:prstGeom>
            <a:ln cap="flat" w="25776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9" id="39"/>
            <p:cNvSpPr/>
            <p:nvPr/>
          </p:nvSpPr>
          <p:spPr>
            <a:xfrm flipH="true" flipV="true">
              <a:off x="2521926" y="1748464"/>
              <a:ext cx="327327" cy="39259"/>
            </a:xfrm>
            <a:prstGeom prst="line">
              <a:avLst/>
            </a:prstGeom>
            <a:ln cap="flat" w="25776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0" id="40"/>
            <p:cNvSpPr txBox="true"/>
            <p:nvPr/>
          </p:nvSpPr>
          <p:spPr>
            <a:xfrm rot="0">
              <a:off x="2862324" y="1517734"/>
              <a:ext cx="268317" cy="490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4"/>
                </a:lnSpc>
                <a:spcBef>
                  <a:spcPct val="0"/>
                </a:spcBef>
              </a:pPr>
              <a:r>
                <a:rPr lang="en-US" b="true" sz="2145" spc="-8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41" id="41"/>
            <p:cNvSpPr/>
            <p:nvPr/>
          </p:nvSpPr>
          <p:spPr>
            <a:xfrm flipH="true">
              <a:off x="2535730" y="1462957"/>
              <a:ext cx="325199" cy="88831"/>
            </a:xfrm>
            <a:prstGeom prst="line">
              <a:avLst/>
            </a:prstGeom>
            <a:ln cap="flat" w="25776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2" id="42"/>
            <p:cNvSpPr txBox="true"/>
            <p:nvPr/>
          </p:nvSpPr>
          <p:spPr>
            <a:xfrm rot="0">
              <a:off x="2862324" y="1107628"/>
              <a:ext cx="268317" cy="490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4"/>
                </a:lnSpc>
                <a:spcBef>
                  <a:spcPct val="0"/>
                </a:spcBef>
              </a:pPr>
              <a:r>
                <a:rPr lang="en-US" b="true" sz="2145" spc="-8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43" id="43"/>
            <p:cNvSpPr/>
            <p:nvPr/>
          </p:nvSpPr>
          <p:spPr>
            <a:xfrm flipH="true" flipV="true">
              <a:off x="2503898" y="2729379"/>
              <a:ext cx="312727" cy="104338"/>
            </a:xfrm>
            <a:prstGeom prst="line">
              <a:avLst/>
            </a:prstGeom>
            <a:ln cap="flat" w="25776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4" id="44"/>
            <p:cNvSpPr txBox="true"/>
            <p:nvPr/>
          </p:nvSpPr>
          <p:spPr>
            <a:xfrm rot="0">
              <a:off x="2816625" y="2599283"/>
              <a:ext cx="268317" cy="490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4"/>
                </a:lnSpc>
                <a:spcBef>
                  <a:spcPct val="0"/>
                </a:spcBef>
              </a:pPr>
              <a:r>
                <a:rPr lang="en-US" b="true" sz="2145" spc="-8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45" id="45"/>
            <p:cNvSpPr/>
            <p:nvPr/>
          </p:nvSpPr>
          <p:spPr>
            <a:xfrm flipH="true">
              <a:off x="2523792" y="2500313"/>
              <a:ext cx="345661" cy="55941"/>
            </a:xfrm>
            <a:prstGeom prst="line">
              <a:avLst/>
            </a:prstGeom>
            <a:ln cap="flat" w="25776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6" id="46"/>
            <p:cNvSpPr txBox="true"/>
            <p:nvPr/>
          </p:nvSpPr>
          <p:spPr>
            <a:xfrm rot="0">
              <a:off x="2879105" y="2216431"/>
              <a:ext cx="268317" cy="490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4"/>
                </a:lnSpc>
                <a:spcBef>
                  <a:spcPct val="0"/>
                </a:spcBef>
              </a:pPr>
              <a:r>
                <a:rPr lang="en-US" b="true" sz="2145" spc="-8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47" id="47"/>
            <p:cNvSpPr/>
            <p:nvPr/>
          </p:nvSpPr>
          <p:spPr>
            <a:xfrm flipV="true">
              <a:off x="1438762" y="3305737"/>
              <a:ext cx="55290" cy="311280"/>
            </a:xfrm>
            <a:prstGeom prst="line">
              <a:avLst/>
            </a:prstGeom>
            <a:ln cap="flat" w="25776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8" id="48"/>
            <p:cNvSpPr txBox="true"/>
            <p:nvPr/>
          </p:nvSpPr>
          <p:spPr>
            <a:xfrm rot="0">
              <a:off x="1621314" y="3517040"/>
              <a:ext cx="268317" cy="490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4"/>
                </a:lnSpc>
                <a:spcBef>
                  <a:spcPct val="0"/>
                </a:spcBef>
              </a:pPr>
              <a:r>
                <a:rPr lang="en-US" b="true" sz="2145" spc="-8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49" id="49"/>
            <p:cNvSpPr/>
            <p:nvPr/>
          </p:nvSpPr>
          <p:spPr>
            <a:xfrm flipH="true" flipV="true">
              <a:off x="1681956" y="3305737"/>
              <a:ext cx="68429" cy="311488"/>
            </a:xfrm>
            <a:prstGeom prst="line">
              <a:avLst/>
            </a:prstGeom>
            <a:ln cap="flat" w="25776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0" id="50"/>
            <p:cNvSpPr txBox="true"/>
            <p:nvPr/>
          </p:nvSpPr>
          <p:spPr>
            <a:xfrm rot="0">
              <a:off x="1263268" y="3517040"/>
              <a:ext cx="268317" cy="490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4"/>
                </a:lnSpc>
                <a:spcBef>
                  <a:spcPct val="0"/>
                </a:spcBef>
              </a:pPr>
              <a:r>
                <a:rPr lang="en-US" b="true" sz="2145" spc="-8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51" id="51"/>
            <p:cNvSpPr/>
            <p:nvPr/>
          </p:nvSpPr>
          <p:spPr>
            <a:xfrm>
              <a:off x="354663" y="2436186"/>
              <a:ext cx="319311" cy="82004"/>
            </a:xfrm>
            <a:prstGeom prst="line">
              <a:avLst/>
            </a:prstGeom>
            <a:ln cap="flat" w="25776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2" id="52"/>
            <p:cNvSpPr/>
            <p:nvPr/>
          </p:nvSpPr>
          <p:spPr>
            <a:xfrm flipV="true">
              <a:off x="325500" y="2692287"/>
              <a:ext cx="340850" cy="80199"/>
            </a:xfrm>
            <a:prstGeom prst="line">
              <a:avLst/>
            </a:prstGeom>
            <a:ln cap="flat" w="25776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3" id="53"/>
            <p:cNvSpPr txBox="true"/>
            <p:nvPr/>
          </p:nvSpPr>
          <p:spPr>
            <a:xfrm rot="0">
              <a:off x="0" y="2489371"/>
              <a:ext cx="268317" cy="490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4"/>
                </a:lnSpc>
                <a:spcBef>
                  <a:spcPct val="0"/>
                </a:spcBef>
              </a:pPr>
              <a:r>
                <a:rPr lang="en-US" b="true" sz="2145" spc="-8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46721" y="2106519"/>
              <a:ext cx="268317" cy="490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4"/>
                </a:lnSpc>
                <a:spcBef>
                  <a:spcPct val="0"/>
                </a:spcBef>
              </a:pPr>
              <a:r>
                <a:rPr lang="en-US" b="true" sz="2145" spc="-8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55" id="55"/>
            <p:cNvSpPr/>
            <p:nvPr/>
          </p:nvSpPr>
          <p:spPr>
            <a:xfrm>
              <a:off x="352373" y="1476228"/>
              <a:ext cx="348503" cy="75560"/>
            </a:xfrm>
            <a:prstGeom prst="line">
              <a:avLst/>
            </a:prstGeom>
            <a:ln cap="flat" w="25776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6" id="56"/>
            <p:cNvSpPr/>
            <p:nvPr/>
          </p:nvSpPr>
          <p:spPr>
            <a:xfrm flipV="true">
              <a:off x="335027" y="1732203"/>
              <a:ext cx="347391" cy="43932"/>
            </a:xfrm>
            <a:prstGeom prst="line">
              <a:avLst/>
            </a:prstGeom>
            <a:ln cap="flat" w="25776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7" id="57"/>
            <p:cNvSpPr txBox="true"/>
            <p:nvPr/>
          </p:nvSpPr>
          <p:spPr>
            <a:xfrm rot="0">
              <a:off x="30205" y="1506053"/>
              <a:ext cx="268317" cy="490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4"/>
                </a:lnSpc>
                <a:spcBef>
                  <a:spcPct val="0"/>
                </a:spcBef>
              </a:pPr>
              <a:r>
                <a:rPr lang="en-US" b="true" sz="2145" spc="-8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48831" y="1103734"/>
              <a:ext cx="268317" cy="490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4"/>
                </a:lnSpc>
                <a:spcBef>
                  <a:spcPct val="0"/>
                </a:spcBef>
              </a:pPr>
              <a:r>
                <a:rPr lang="en-US" b="true" sz="2145" spc="-8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1442279" y="-47625"/>
              <a:ext cx="281798" cy="512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13"/>
                </a:lnSpc>
                <a:spcBef>
                  <a:spcPct val="0"/>
                </a:spcBef>
              </a:pPr>
              <a:r>
                <a:rPr lang="en-US" b="true" sz="2295" spc="-9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O</a:t>
              </a:r>
            </a:p>
          </p:txBody>
        </p:sp>
        <p:sp>
          <p:nvSpPr>
            <p:cNvPr name="AutoShape 60" id="60"/>
            <p:cNvSpPr/>
            <p:nvPr/>
          </p:nvSpPr>
          <p:spPr>
            <a:xfrm flipH="true">
              <a:off x="1530046" y="428917"/>
              <a:ext cx="4882" cy="389880"/>
            </a:xfrm>
            <a:prstGeom prst="line">
              <a:avLst/>
            </a:prstGeom>
            <a:ln cap="flat" w="25776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1" id="61"/>
            <p:cNvSpPr/>
            <p:nvPr/>
          </p:nvSpPr>
          <p:spPr>
            <a:xfrm flipV="true">
              <a:off x="1653530" y="428687"/>
              <a:ext cx="1732" cy="390110"/>
            </a:xfrm>
            <a:prstGeom prst="line">
              <a:avLst/>
            </a:prstGeom>
            <a:ln cap="flat" w="25776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2" id="62"/>
            <p:cNvSpPr txBox="true"/>
            <p:nvPr/>
          </p:nvSpPr>
          <p:spPr>
            <a:xfrm rot="5400000">
              <a:off x="1921489" y="-95510"/>
              <a:ext cx="80352" cy="516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9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5400000">
              <a:off x="1921489" y="44028"/>
              <a:ext cx="80352" cy="516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9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5400000">
              <a:off x="1452806" y="-95510"/>
              <a:ext cx="80352" cy="516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9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5400000">
              <a:off x="1452806" y="44028"/>
              <a:ext cx="80352" cy="516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314" spc="-9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</p:grpSp>
      <p:sp>
        <p:nvSpPr>
          <p:cNvPr name="Freeform 66" id="66"/>
          <p:cNvSpPr/>
          <p:nvPr/>
        </p:nvSpPr>
        <p:spPr>
          <a:xfrm flipH="false" flipV="false" rot="0">
            <a:off x="4431084" y="5911753"/>
            <a:ext cx="2447697" cy="2467492"/>
          </a:xfrm>
          <a:custGeom>
            <a:avLst/>
            <a:gdLst/>
            <a:ahLst/>
            <a:cxnLst/>
            <a:rect r="r" b="b" t="t" l="l"/>
            <a:pathLst>
              <a:path h="2467492" w="2447697">
                <a:moveTo>
                  <a:pt x="0" y="0"/>
                </a:moveTo>
                <a:lnTo>
                  <a:pt x="2447697" y="0"/>
                </a:lnTo>
                <a:lnTo>
                  <a:pt x="2447697" y="2467491"/>
                </a:lnTo>
                <a:lnTo>
                  <a:pt x="0" y="24674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2746" r="-809" b="0"/>
            </a:stretch>
          </a:blipFill>
        </p:spPr>
      </p:sp>
      <p:sp>
        <p:nvSpPr>
          <p:cNvPr name="TextBox 67" id="67"/>
          <p:cNvSpPr txBox="true"/>
          <p:nvPr/>
        </p:nvSpPr>
        <p:spPr>
          <a:xfrm rot="0">
            <a:off x="1615738" y="9495609"/>
            <a:ext cx="1598251" cy="183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7"/>
              </a:lnSpc>
              <a:spcBef>
                <a:spcPct val="0"/>
              </a:spcBef>
            </a:pPr>
            <a:r>
              <a:rPr lang="en-US" sz="1296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atom count verified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6499" y="120357"/>
            <a:ext cx="2617705" cy="60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  <a:spcBef>
                <a:spcPct val="0"/>
              </a:spcBef>
            </a:pPr>
            <a:r>
              <a:rPr lang="en-US" b="true" sz="3459" spc="-138">
                <a:solidFill>
                  <a:srgbClr val="000001"/>
                </a:solidFill>
                <a:latin typeface="Aileron Bold"/>
                <a:ea typeface="Aileron Bold"/>
                <a:cs typeface="Aileron Bold"/>
                <a:sym typeface="Aileron Bold"/>
              </a:rPr>
              <a:t>CARD 07 ―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393701" y="76026"/>
            <a:ext cx="4278384" cy="63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5"/>
              </a:lnSpc>
              <a:spcBef>
                <a:spcPct val="0"/>
              </a:spcBef>
            </a:pPr>
            <a:r>
              <a:rPr lang="en-US" sz="3753" spc="-150">
                <a:solidFill>
                  <a:srgbClr val="BD1B1B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CYCLOHEXANONE 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715030" y="826755"/>
            <a:ext cx="4129940" cy="22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2"/>
              </a:lnSpc>
              <a:spcBef>
                <a:spcPct val="0"/>
              </a:spcBef>
            </a:pPr>
            <a:r>
              <a:rPr lang="en-US" b="true" sz="1600" spc="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“THE CARBONYL IN A RING”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6448822" y="230542"/>
            <a:ext cx="130905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-92">
                <a:solidFill>
                  <a:srgbClr val="BD1B1B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(C₆H₁₀O)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321545" y="1291744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1. MOLECULAR FORMULA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32262" y="2545476"/>
            <a:ext cx="1762524" cy="71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1"/>
              </a:lnSpc>
              <a:spcBef>
                <a:spcPct val="0"/>
              </a:spcBef>
            </a:pPr>
            <a:r>
              <a:rPr lang="en-US" b="true" sz="4158" spc="-16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C₆H₁₀O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638378" y="3365109"/>
            <a:ext cx="2623076" cy="21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  <a:spcBef>
                <a:spcPct val="0"/>
              </a:spcBef>
            </a:pPr>
            <a:r>
              <a:rPr lang="en-US" b="true" sz="1257" spc="-50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6 C </a:t>
            </a:r>
            <a:r>
              <a:rPr lang="en-US" b="true" sz="1257" spc="-50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+ 10 H + 1 O = 17 atoms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4061482" y="1291744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2</a:t>
            </a: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LEWIS STRUCTURE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6499" y="5269455"/>
            <a:ext cx="3572331" cy="25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0"/>
              </a:lnSpc>
              <a:spcBef>
                <a:spcPct val="0"/>
              </a:spcBef>
            </a:pPr>
            <a:r>
              <a:rPr lang="en-US" b="true" sz="1450" i="true" spc="-5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3</a:t>
            </a:r>
            <a:r>
              <a:rPr lang="en-US" b="true" sz="1450" i="true" spc="-5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CONDENSED STRUCTURAL FORMULA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378238" y="6624577"/>
            <a:ext cx="2997790" cy="66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15"/>
              </a:lnSpc>
              <a:spcBef>
                <a:spcPct val="0"/>
              </a:spcBef>
            </a:pPr>
            <a:r>
              <a:rPr lang="en-US" b="true" sz="3867" spc="-15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(</a:t>
            </a:r>
            <a:r>
              <a:rPr lang="en-US" b="true" sz="3867" spc="-15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CH₂​)₅​CO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4061482" y="5179790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4</a:t>
            </a: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BOND-LINE FORMULA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2205153" y="9052605"/>
            <a:ext cx="3149694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 i="true" spc="-6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VERIFICATION STRIP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4377585" y="9495663"/>
            <a:ext cx="1331920" cy="184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  <a:spcBef>
                <a:spcPct val="0"/>
              </a:spcBef>
            </a:pPr>
            <a:r>
              <a:rPr lang="en-US" sz="1303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v</a:t>
            </a:r>
            <a:r>
              <a:rPr lang="en-US" sz="1303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alence checked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626893" y="9845348"/>
            <a:ext cx="1600778" cy="183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9"/>
              </a:lnSpc>
              <a:spcBef>
                <a:spcPct val="0"/>
              </a:spcBef>
            </a:pPr>
            <a:r>
              <a:rPr lang="en-US" sz="1298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bo</a:t>
            </a:r>
            <a:r>
              <a:rPr lang="en-US" sz="1298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nd order checked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4376579" y="9857020"/>
            <a:ext cx="2246837" cy="18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9"/>
              </a:lnSpc>
              <a:spcBef>
                <a:spcPct val="0"/>
              </a:spcBef>
            </a:pPr>
            <a:r>
              <a:rPr lang="en-US" sz="1298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same co</a:t>
            </a:r>
            <a:r>
              <a:rPr lang="en-US" sz="1298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nnectivity confirmed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3989477" y="8194190"/>
            <a:ext cx="3327969" cy="44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0"/>
              </a:lnSpc>
              <a:spcBef>
                <a:spcPct val="0"/>
              </a:spcBef>
            </a:pPr>
            <a:r>
              <a:rPr lang="en-US" b="true" sz="967" spc="-38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Cyclohexanone is a six-carbon cyclic ketone with a carbonyl group formed by a double bond between one ring carbon and oxygen, distinguishing it from cyclohexane. 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35188" y="10317045"/>
            <a:ext cx="5089624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 i="true" spc="-48">
                <a:solidFill>
                  <a:srgbClr val="700C0C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ChE Connection: Nylon Intermediates, Solvents, and Chemical Manufacturing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5568814" y="5658596"/>
            <a:ext cx="172236" cy="31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7"/>
              </a:lnSpc>
              <a:spcBef>
                <a:spcPct val="0"/>
              </a:spcBef>
            </a:pPr>
            <a:r>
              <a:rPr lang="en-US" b="true" sz="1869" spc="-74">
                <a:solidFill>
                  <a:srgbClr val="FF0D0D"/>
                </a:solidFill>
                <a:latin typeface="Aileron Bold"/>
                <a:ea typeface="Aileron Bold"/>
                <a:cs typeface="Aileron Bold"/>
                <a:sym typeface="Aileron Bold"/>
              </a:rPr>
              <a:t>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566000" y="156600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7560000"/>
                </a:moveTo>
                <a:lnTo>
                  <a:pt x="0" y="0"/>
                </a:ln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close/>
              </a:path>
            </a:pathLst>
          </a:custGeom>
          <a:blipFill>
            <a:blip r:embed="rId2"/>
            <a:stretch>
              <a:fillRect l="-3063" t="0" r="-306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498" y="9328830"/>
            <a:ext cx="7255003" cy="952364"/>
            <a:chOff x="0" y="0"/>
            <a:chExt cx="9128989" cy="11983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28989" cy="1198362"/>
            </a:xfrm>
            <a:custGeom>
              <a:avLst/>
              <a:gdLst/>
              <a:ahLst/>
              <a:cxnLst/>
              <a:rect r="r" b="b" t="t" l="l"/>
              <a:pathLst>
                <a:path h="1198362" w="9128989">
                  <a:moveTo>
                    <a:pt x="26468" y="0"/>
                  </a:moveTo>
                  <a:lnTo>
                    <a:pt x="9102521" y="0"/>
                  </a:lnTo>
                  <a:cubicBezTo>
                    <a:pt x="9109541" y="0"/>
                    <a:pt x="9116273" y="2789"/>
                    <a:pt x="9121237" y="7752"/>
                  </a:cubicBezTo>
                  <a:cubicBezTo>
                    <a:pt x="9126201" y="12716"/>
                    <a:pt x="9128989" y="19448"/>
                    <a:pt x="9128989" y="26468"/>
                  </a:cubicBezTo>
                  <a:lnTo>
                    <a:pt x="9128989" y="1171895"/>
                  </a:lnTo>
                  <a:cubicBezTo>
                    <a:pt x="9128989" y="1186512"/>
                    <a:pt x="9117140" y="1198362"/>
                    <a:pt x="9102521" y="1198362"/>
                  </a:cubicBezTo>
                  <a:lnTo>
                    <a:pt x="26468" y="1198362"/>
                  </a:lnTo>
                  <a:cubicBezTo>
                    <a:pt x="19448" y="1198362"/>
                    <a:pt x="12716" y="1195574"/>
                    <a:pt x="7752" y="1190610"/>
                  </a:cubicBezTo>
                  <a:cubicBezTo>
                    <a:pt x="2789" y="1185647"/>
                    <a:pt x="0" y="1178914"/>
                    <a:pt x="0" y="1171895"/>
                  </a:cubicBezTo>
                  <a:lnTo>
                    <a:pt x="0" y="26468"/>
                  </a:lnTo>
                  <a:cubicBezTo>
                    <a:pt x="0" y="11850"/>
                    <a:pt x="11850" y="0"/>
                    <a:pt x="2646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9128989" cy="1217412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6499" y="1579171"/>
            <a:ext cx="3594051" cy="3745667"/>
            <a:chOff x="0" y="0"/>
            <a:chExt cx="4676784" cy="4874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76784" cy="4874075"/>
            </a:xfrm>
            <a:custGeom>
              <a:avLst/>
              <a:gdLst/>
              <a:ahLst/>
              <a:cxnLst/>
              <a:rect r="r" b="b" t="t" l="l"/>
              <a:pathLst>
                <a:path h="4874075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820647"/>
                  </a:lnTo>
                  <a:cubicBezTo>
                    <a:pt x="4676784" y="4850154"/>
                    <a:pt x="4652863" y="4874075"/>
                    <a:pt x="4623356" y="4874075"/>
                  </a:cubicBezTo>
                  <a:lnTo>
                    <a:pt x="53428" y="4874075"/>
                  </a:lnTo>
                  <a:cubicBezTo>
                    <a:pt x="23921" y="4874075"/>
                    <a:pt x="0" y="4850154"/>
                    <a:pt x="0" y="4820647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4676784" cy="4893125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16499" y="2091298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3856436" y="1605876"/>
            <a:ext cx="3594051" cy="3745667"/>
            <a:chOff x="0" y="0"/>
            <a:chExt cx="4676784" cy="48740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76784" cy="4874075"/>
            </a:xfrm>
            <a:custGeom>
              <a:avLst/>
              <a:gdLst/>
              <a:ahLst/>
              <a:cxnLst/>
              <a:rect r="r" b="b" t="t" l="l"/>
              <a:pathLst>
                <a:path h="4874075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820647"/>
                  </a:lnTo>
                  <a:cubicBezTo>
                    <a:pt x="4676784" y="4850154"/>
                    <a:pt x="4652863" y="4874075"/>
                    <a:pt x="4623356" y="4874075"/>
                  </a:cubicBezTo>
                  <a:lnTo>
                    <a:pt x="53428" y="4874075"/>
                  </a:lnTo>
                  <a:cubicBezTo>
                    <a:pt x="23921" y="4874075"/>
                    <a:pt x="0" y="4850154"/>
                    <a:pt x="0" y="4820647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676784" cy="4921700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3856436" y="2095903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16499" y="5560287"/>
            <a:ext cx="3594051" cy="3627768"/>
            <a:chOff x="0" y="0"/>
            <a:chExt cx="4676784" cy="47206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76784" cy="4720658"/>
            </a:xfrm>
            <a:custGeom>
              <a:avLst/>
              <a:gdLst/>
              <a:ahLst/>
              <a:cxnLst/>
              <a:rect r="r" b="b" t="t" l="l"/>
              <a:pathLst>
                <a:path h="4720658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667230"/>
                  </a:lnTo>
                  <a:cubicBezTo>
                    <a:pt x="4676784" y="4696738"/>
                    <a:pt x="4652863" y="4720658"/>
                    <a:pt x="4623356" y="4720658"/>
                  </a:cubicBezTo>
                  <a:lnTo>
                    <a:pt x="53428" y="4720658"/>
                  </a:lnTo>
                  <a:cubicBezTo>
                    <a:pt x="23921" y="4720658"/>
                    <a:pt x="0" y="4696738"/>
                    <a:pt x="0" y="4667230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4676784" cy="4739709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116499" y="6027150"/>
            <a:ext cx="3594051" cy="23164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3856436" y="5532517"/>
            <a:ext cx="3594051" cy="3627768"/>
            <a:chOff x="0" y="0"/>
            <a:chExt cx="4676784" cy="47206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76784" cy="4720658"/>
            </a:xfrm>
            <a:custGeom>
              <a:avLst/>
              <a:gdLst/>
              <a:ahLst/>
              <a:cxnLst/>
              <a:rect r="r" b="b" t="t" l="l"/>
              <a:pathLst>
                <a:path h="4720658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667230"/>
                  </a:lnTo>
                  <a:cubicBezTo>
                    <a:pt x="4676784" y="4696738"/>
                    <a:pt x="4652863" y="4720658"/>
                    <a:pt x="4623356" y="4720658"/>
                  </a:cubicBezTo>
                  <a:lnTo>
                    <a:pt x="53428" y="4720658"/>
                  </a:lnTo>
                  <a:cubicBezTo>
                    <a:pt x="23921" y="4720658"/>
                    <a:pt x="0" y="4696738"/>
                    <a:pt x="0" y="4667230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676784" cy="4768284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3856436" y="6022545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286778" y="9920890"/>
            <a:ext cx="170658" cy="170658"/>
          </a:xfrm>
          <a:custGeom>
            <a:avLst/>
            <a:gdLst/>
            <a:ahLst/>
            <a:cxnLst/>
            <a:rect r="r" b="b" t="t" l="l"/>
            <a:pathLst>
              <a:path h="170658" w="170658">
                <a:moveTo>
                  <a:pt x="0" y="0"/>
                </a:moveTo>
                <a:lnTo>
                  <a:pt x="170657" y="0"/>
                </a:lnTo>
                <a:lnTo>
                  <a:pt x="170657" y="170657"/>
                </a:lnTo>
                <a:lnTo>
                  <a:pt x="0" y="1706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688799" y="9926089"/>
            <a:ext cx="170565" cy="170565"/>
          </a:xfrm>
          <a:custGeom>
            <a:avLst/>
            <a:gdLst/>
            <a:ahLst/>
            <a:cxnLst/>
            <a:rect r="r" b="b" t="t" l="l"/>
            <a:pathLst>
              <a:path h="170565" w="170565">
                <a:moveTo>
                  <a:pt x="0" y="0"/>
                </a:moveTo>
                <a:lnTo>
                  <a:pt x="170565" y="0"/>
                </a:lnTo>
                <a:lnTo>
                  <a:pt x="170565" y="170565"/>
                </a:lnTo>
                <a:lnTo>
                  <a:pt x="0" y="17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963969" y="9928748"/>
            <a:ext cx="169417" cy="169417"/>
          </a:xfrm>
          <a:custGeom>
            <a:avLst/>
            <a:gdLst/>
            <a:ahLst/>
            <a:cxnLst/>
            <a:rect r="r" b="b" t="t" l="l"/>
            <a:pathLst>
              <a:path h="169417" w="169417">
                <a:moveTo>
                  <a:pt x="0" y="0"/>
                </a:moveTo>
                <a:lnTo>
                  <a:pt x="169416" y="0"/>
                </a:lnTo>
                <a:lnTo>
                  <a:pt x="169416" y="169417"/>
                </a:lnTo>
                <a:lnTo>
                  <a:pt x="0" y="1694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197942" y="9936549"/>
            <a:ext cx="170371" cy="170371"/>
          </a:xfrm>
          <a:custGeom>
            <a:avLst/>
            <a:gdLst/>
            <a:ahLst/>
            <a:cxnLst/>
            <a:rect r="r" b="b" t="t" l="l"/>
            <a:pathLst>
              <a:path h="170371" w="170371">
                <a:moveTo>
                  <a:pt x="0" y="0"/>
                </a:moveTo>
                <a:lnTo>
                  <a:pt x="170371" y="0"/>
                </a:lnTo>
                <a:lnTo>
                  <a:pt x="170371" y="170371"/>
                </a:lnTo>
                <a:lnTo>
                  <a:pt x="0" y="1703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728461" y="6019539"/>
            <a:ext cx="2075539" cy="3092130"/>
          </a:xfrm>
          <a:custGeom>
            <a:avLst/>
            <a:gdLst/>
            <a:ahLst/>
            <a:cxnLst/>
            <a:rect r="r" b="b" t="t" l="l"/>
            <a:pathLst>
              <a:path h="3092130" w="2075539">
                <a:moveTo>
                  <a:pt x="0" y="0"/>
                </a:moveTo>
                <a:lnTo>
                  <a:pt x="2075539" y="0"/>
                </a:lnTo>
                <a:lnTo>
                  <a:pt x="2075539" y="3092130"/>
                </a:lnTo>
                <a:lnTo>
                  <a:pt x="0" y="3092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486917" y="9938273"/>
            <a:ext cx="1334254" cy="151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7"/>
              </a:lnSpc>
              <a:spcBef>
                <a:spcPct val="0"/>
              </a:spcBef>
            </a:pPr>
            <a:r>
              <a:rPr lang="en-US" sz="1082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atom count verified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2866" y="91782"/>
            <a:ext cx="2617705" cy="60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  <a:spcBef>
                <a:spcPct val="0"/>
              </a:spcBef>
            </a:pPr>
            <a:r>
              <a:rPr lang="en-US" b="true" sz="3459" spc="-138">
                <a:solidFill>
                  <a:srgbClr val="000001"/>
                </a:solidFill>
                <a:latin typeface="Aileron Bold"/>
                <a:ea typeface="Aileron Bold"/>
                <a:cs typeface="Aileron Bold"/>
                <a:sym typeface="Aileron Bold"/>
              </a:rPr>
              <a:t>CARD 08 ―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67562" y="55328"/>
            <a:ext cx="4235296" cy="63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5"/>
              </a:lnSpc>
              <a:spcBef>
                <a:spcPct val="0"/>
              </a:spcBef>
            </a:pPr>
            <a:r>
              <a:rPr lang="en-US" sz="3753" spc="-150">
                <a:solidFill>
                  <a:srgbClr val="BD1B1B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ACETAMINOPHEN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14238" y="798180"/>
            <a:ext cx="6731523" cy="58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2"/>
              </a:lnSpc>
            </a:pPr>
            <a:r>
              <a:rPr lang="en-US" b="true" sz="1600" i="true" spc="4">
                <a:solidFill>
                  <a:srgbClr val="700C0C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(paracetamol)</a:t>
            </a:r>
          </a:p>
          <a:p>
            <a:pPr algn="ctr">
              <a:lnSpc>
                <a:spcPts val="4000"/>
              </a:lnSpc>
              <a:spcBef>
                <a:spcPct val="0"/>
              </a:spcBef>
            </a:pPr>
            <a:r>
              <a:rPr lang="en-US" b="true" sz="1600" spc="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“THE AROMATIC AMIDE”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265731" y="239621"/>
            <a:ext cx="1294269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-92">
                <a:solidFill>
                  <a:srgbClr val="BD1B1B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(C₈H₉NO₂)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21545" y="1636744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1. MOLECULAR FORMULA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98929" y="2956555"/>
            <a:ext cx="2229191" cy="71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1"/>
              </a:lnSpc>
              <a:spcBef>
                <a:spcPct val="0"/>
              </a:spcBef>
            </a:pPr>
            <a:r>
              <a:rPr lang="en-US" b="true" sz="4158" spc="-16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C₈H₉NO₂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38378" y="3868935"/>
            <a:ext cx="2623076" cy="21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  <a:spcBef>
                <a:spcPct val="0"/>
              </a:spcBef>
            </a:pPr>
            <a:r>
              <a:rPr lang="en-US" b="true" sz="1257" spc="-50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8 C + 9 H </a:t>
            </a:r>
            <a:r>
              <a:rPr lang="en-US" b="true" sz="1257" spc="-50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+ 1 N + 2 O = 20 atoms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061482" y="1636744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2</a:t>
            </a: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LEWIS STRUCTURE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6499" y="5652555"/>
            <a:ext cx="3572331" cy="25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0"/>
              </a:lnSpc>
              <a:spcBef>
                <a:spcPct val="0"/>
              </a:spcBef>
            </a:pPr>
            <a:r>
              <a:rPr lang="en-US" b="true" sz="1450" i="true" spc="-5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3</a:t>
            </a:r>
            <a:r>
              <a:rPr lang="en-US" b="true" sz="1450" i="true" spc="-5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CONDENSED STRUCTURAL FORMULA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38625" y="7162937"/>
            <a:ext cx="3349798" cy="474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5"/>
              </a:lnSpc>
              <a:spcBef>
                <a:spcPct val="0"/>
              </a:spcBef>
            </a:pPr>
            <a:r>
              <a:rPr lang="en-US" b="true" sz="2768" spc="-11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HO–</a:t>
            </a:r>
            <a:r>
              <a:rPr lang="en-US" b="true" sz="2768" spc="-11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C₆H₄–NHCOCH₃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061482" y="5562890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4</a:t>
            </a: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BOND-LINE FORMULA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205153" y="9443130"/>
            <a:ext cx="3149694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 i="true" spc="-6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VERIFICATION STRIP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895197" y="9943468"/>
            <a:ext cx="1104976" cy="15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7"/>
              </a:lnSpc>
              <a:spcBef>
                <a:spcPct val="0"/>
              </a:spcBef>
            </a:pPr>
            <a:r>
              <a:rPr lang="en-US" sz="1081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v</a:t>
            </a:r>
            <a:r>
              <a:rPr lang="en-US" sz="1081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alence checked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171569" y="9946074"/>
            <a:ext cx="1324555" cy="15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9"/>
              </a:lnSpc>
              <a:spcBef>
                <a:spcPct val="0"/>
              </a:spcBef>
            </a:pPr>
            <a:r>
              <a:rPr lang="en-US" sz="1074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bo</a:t>
            </a:r>
            <a:r>
              <a:rPr lang="en-US" sz="1074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nd order checked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404073" y="9953918"/>
            <a:ext cx="1869150" cy="151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  <a:spcBef>
                <a:spcPct val="0"/>
              </a:spcBef>
            </a:pPr>
            <a:r>
              <a:rPr lang="en-US" sz="1080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same co</a:t>
            </a:r>
            <a:r>
              <a:rPr lang="en-US" sz="1080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nnectivity confirmed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31455" y="10355145"/>
            <a:ext cx="449709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 i="true" spc="-48">
                <a:solidFill>
                  <a:srgbClr val="700C0C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ChE Connection: Pharmaceutical Manufacturing and Quality Control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4712012" y="2165240"/>
            <a:ext cx="1831551" cy="3117527"/>
            <a:chOff x="0" y="0"/>
            <a:chExt cx="2442068" cy="4156703"/>
          </a:xfrm>
        </p:grpSpPr>
        <p:sp>
          <p:nvSpPr>
            <p:cNvPr name="TextBox 45" id="45"/>
            <p:cNvSpPr txBox="true"/>
            <p:nvPr/>
          </p:nvSpPr>
          <p:spPr>
            <a:xfrm rot="0">
              <a:off x="971349" y="1642608"/>
              <a:ext cx="173269" cy="343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2"/>
                </a:lnSpc>
                <a:spcBef>
                  <a:spcPct val="0"/>
                </a:spcBef>
              </a:pPr>
              <a:r>
                <a:rPr lang="en-US" b="true" sz="1509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46" id="46"/>
            <p:cNvSpPr/>
            <p:nvPr/>
          </p:nvSpPr>
          <p:spPr>
            <a:xfrm flipH="true">
              <a:off x="648149" y="1888123"/>
              <a:ext cx="300458" cy="255924"/>
            </a:xfrm>
            <a:prstGeom prst="line">
              <a:avLst/>
            </a:prstGeom>
            <a:ln cap="flat" w="1531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7" id="47"/>
            <p:cNvSpPr txBox="true"/>
            <p:nvPr/>
          </p:nvSpPr>
          <p:spPr>
            <a:xfrm rot="0">
              <a:off x="493012" y="2060939"/>
              <a:ext cx="173269" cy="343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2"/>
                </a:lnSpc>
                <a:spcBef>
                  <a:spcPct val="0"/>
                </a:spcBef>
              </a:pPr>
              <a:r>
                <a:rPr lang="en-US" b="true" sz="1509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48" id="48"/>
            <p:cNvSpPr/>
            <p:nvPr/>
          </p:nvSpPr>
          <p:spPr>
            <a:xfrm flipH="true">
              <a:off x="542298" y="2385521"/>
              <a:ext cx="0" cy="360103"/>
            </a:xfrm>
            <a:prstGeom prst="line">
              <a:avLst/>
            </a:prstGeom>
            <a:ln cap="flat" w="1531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9" id="49"/>
            <p:cNvSpPr txBox="true"/>
            <p:nvPr/>
          </p:nvSpPr>
          <p:spPr>
            <a:xfrm rot="0">
              <a:off x="482397" y="2666196"/>
              <a:ext cx="173269" cy="343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2"/>
                </a:lnSpc>
                <a:spcBef>
                  <a:spcPct val="0"/>
                </a:spcBef>
              </a:pPr>
              <a:r>
                <a:rPr lang="en-US" b="true" sz="1509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50" id="50"/>
            <p:cNvSpPr/>
            <p:nvPr/>
          </p:nvSpPr>
          <p:spPr>
            <a:xfrm flipH="true" flipV="true">
              <a:off x="626331" y="2992014"/>
              <a:ext cx="335012" cy="208660"/>
            </a:xfrm>
            <a:prstGeom prst="line">
              <a:avLst/>
            </a:prstGeom>
            <a:ln cap="flat" w="1531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1" id="51"/>
            <p:cNvSpPr txBox="true"/>
            <p:nvPr/>
          </p:nvSpPr>
          <p:spPr>
            <a:xfrm rot="0">
              <a:off x="971349" y="3009767"/>
              <a:ext cx="173269" cy="343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2"/>
                </a:lnSpc>
                <a:spcBef>
                  <a:spcPct val="0"/>
                </a:spcBef>
              </a:pPr>
              <a:r>
                <a:rPr lang="en-US" b="true" sz="1509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1531012" y="2026772"/>
              <a:ext cx="173269" cy="343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2"/>
                </a:lnSpc>
                <a:spcBef>
                  <a:spcPct val="0"/>
                </a:spcBef>
              </a:pPr>
              <a:r>
                <a:rPr lang="en-US" b="true" sz="1509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1531012" y="2666196"/>
              <a:ext cx="173269" cy="343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2"/>
                </a:lnSpc>
                <a:spcBef>
                  <a:spcPct val="0"/>
                </a:spcBef>
              </a:pPr>
              <a:r>
                <a:rPr lang="en-US" b="true" sz="1509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54" id="54"/>
            <p:cNvSpPr/>
            <p:nvPr/>
          </p:nvSpPr>
          <p:spPr>
            <a:xfrm flipH="true">
              <a:off x="1188126" y="2956164"/>
              <a:ext cx="321909" cy="228357"/>
            </a:xfrm>
            <a:prstGeom prst="line">
              <a:avLst/>
            </a:prstGeom>
            <a:ln cap="flat" w="1531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5" id="55"/>
            <p:cNvSpPr/>
            <p:nvPr/>
          </p:nvSpPr>
          <p:spPr>
            <a:xfrm flipH="true" flipV="true">
              <a:off x="1203055" y="1849401"/>
              <a:ext cx="362921" cy="234527"/>
            </a:xfrm>
            <a:prstGeom prst="line">
              <a:avLst/>
            </a:prstGeom>
            <a:ln cap="flat" w="1531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6" id="56"/>
            <p:cNvSpPr/>
            <p:nvPr/>
          </p:nvSpPr>
          <p:spPr>
            <a:xfrm flipH="true">
              <a:off x="1620152" y="2355452"/>
              <a:ext cx="0" cy="360103"/>
            </a:xfrm>
            <a:prstGeom prst="line">
              <a:avLst/>
            </a:prstGeom>
            <a:ln cap="flat" w="1531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7" id="57"/>
            <p:cNvSpPr/>
            <p:nvPr/>
          </p:nvSpPr>
          <p:spPr>
            <a:xfrm flipH="true" flipV="true">
              <a:off x="1173754" y="1900700"/>
              <a:ext cx="362921" cy="234527"/>
            </a:xfrm>
            <a:prstGeom prst="line">
              <a:avLst/>
            </a:prstGeom>
            <a:ln cap="flat" w="1531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8" id="58"/>
            <p:cNvSpPr/>
            <p:nvPr/>
          </p:nvSpPr>
          <p:spPr>
            <a:xfrm flipH="true">
              <a:off x="1228217" y="2996255"/>
              <a:ext cx="321909" cy="228357"/>
            </a:xfrm>
            <a:prstGeom prst="line">
              <a:avLst/>
            </a:prstGeom>
            <a:ln cap="flat" w="1531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9" id="59"/>
            <p:cNvSpPr/>
            <p:nvPr/>
          </p:nvSpPr>
          <p:spPr>
            <a:xfrm flipH="true">
              <a:off x="600777" y="2387650"/>
              <a:ext cx="0" cy="360103"/>
            </a:xfrm>
            <a:prstGeom prst="line">
              <a:avLst/>
            </a:prstGeom>
            <a:ln cap="flat" w="1531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0" id="60"/>
            <p:cNvSpPr txBox="true"/>
            <p:nvPr/>
          </p:nvSpPr>
          <p:spPr>
            <a:xfrm rot="0">
              <a:off x="971349" y="1163969"/>
              <a:ext cx="173269" cy="343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2"/>
                </a:lnSpc>
                <a:spcBef>
                  <a:spcPct val="0"/>
                </a:spcBef>
              </a:pPr>
              <a:r>
                <a:rPr lang="en-US" b="true" sz="1509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N</a:t>
              </a:r>
            </a:p>
          </p:txBody>
        </p:sp>
        <p:sp>
          <p:nvSpPr>
            <p:cNvPr name="AutoShape 61" id="61"/>
            <p:cNvSpPr/>
            <p:nvPr/>
          </p:nvSpPr>
          <p:spPr>
            <a:xfrm>
              <a:off x="1064736" y="1480790"/>
              <a:ext cx="0" cy="233663"/>
            </a:xfrm>
            <a:prstGeom prst="line">
              <a:avLst/>
            </a:prstGeom>
            <a:ln cap="flat" w="1531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2" id="62"/>
            <p:cNvSpPr/>
            <p:nvPr/>
          </p:nvSpPr>
          <p:spPr>
            <a:xfrm flipH="true" flipV="true">
              <a:off x="604442" y="1114677"/>
              <a:ext cx="362921" cy="234527"/>
            </a:xfrm>
            <a:prstGeom prst="line">
              <a:avLst/>
            </a:prstGeom>
            <a:ln cap="flat" w="1531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3" id="63"/>
            <p:cNvSpPr txBox="true"/>
            <p:nvPr/>
          </p:nvSpPr>
          <p:spPr>
            <a:xfrm rot="0">
              <a:off x="413131" y="891460"/>
              <a:ext cx="173269" cy="343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2"/>
                </a:lnSpc>
                <a:spcBef>
                  <a:spcPct val="0"/>
                </a:spcBef>
              </a:pPr>
              <a:r>
                <a:rPr lang="en-US" b="true" sz="1509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64" id="64"/>
            <p:cNvSpPr/>
            <p:nvPr/>
          </p:nvSpPr>
          <p:spPr>
            <a:xfrm flipH="true">
              <a:off x="1178133" y="1114677"/>
              <a:ext cx="358543" cy="235058"/>
            </a:xfrm>
            <a:prstGeom prst="line">
              <a:avLst/>
            </a:prstGeom>
            <a:ln cap="flat" w="1531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5" id="65"/>
            <p:cNvSpPr txBox="true"/>
            <p:nvPr/>
          </p:nvSpPr>
          <p:spPr>
            <a:xfrm rot="0">
              <a:off x="1543755" y="904012"/>
              <a:ext cx="173269" cy="343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2"/>
                </a:lnSpc>
                <a:spcBef>
                  <a:spcPct val="0"/>
                </a:spcBef>
              </a:pPr>
              <a:r>
                <a:rPr lang="en-US" b="true" sz="1509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2123040" y="1241775"/>
              <a:ext cx="173269" cy="343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2"/>
                </a:lnSpc>
                <a:spcBef>
                  <a:spcPct val="0"/>
                </a:spcBef>
              </a:pPr>
              <a:r>
                <a:rPr lang="en-US" b="true" sz="1509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O</a:t>
              </a:r>
            </a:p>
          </p:txBody>
        </p:sp>
        <p:sp>
          <p:nvSpPr>
            <p:cNvPr name="AutoShape 67" id="67"/>
            <p:cNvSpPr/>
            <p:nvPr/>
          </p:nvSpPr>
          <p:spPr>
            <a:xfrm flipH="true" flipV="true">
              <a:off x="1763495" y="1088039"/>
              <a:ext cx="362921" cy="234527"/>
            </a:xfrm>
            <a:prstGeom prst="line">
              <a:avLst/>
            </a:prstGeom>
            <a:ln cap="flat" w="1531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8" id="68"/>
            <p:cNvSpPr/>
            <p:nvPr/>
          </p:nvSpPr>
          <p:spPr>
            <a:xfrm flipH="true" flipV="true">
              <a:off x="1734195" y="1139338"/>
              <a:ext cx="362921" cy="234527"/>
            </a:xfrm>
            <a:prstGeom prst="line">
              <a:avLst/>
            </a:prstGeom>
            <a:ln cap="flat" w="1531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9" id="69"/>
            <p:cNvSpPr/>
            <p:nvPr/>
          </p:nvSpPr>
          <p:spPr>
            <a:xfrm>
              <a:off x="1636761" y="744901"/>
              <a:ext cx="382" cy="245542"/>
            </a:xfrm>
            <a:prstGeom prst="line">
              <a:avLst/>
            </a:prstGeom>
            <a:ln cap="flat" w="1531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0" id="70"/>
            <p:cNvSpPr txBox="true"/>
            <p:nvPr/>
          </p:nvSpPr>
          <p:spPr>
            <a:xfrm rot="0">
              <a:off x="1550126" y="431942"/>
              <a:ext cx="173269" cy="343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2"/>
                </a:lnSpc>
                <a:spcBef>
                  <a:spcPct val="0"/>
                </a:spcBef>
              </a:pPr>
              <a:r>
                <a:rPr lang="en-US" b="true" sz="1509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71" id="71"/>
            <p:cNvSpPr/>
            <p:nvPr/>
          </p:nvSpPr>
          <p:spPr>
            <a:xfrm flipH="true">
              <a:off x="1752022" y="553601"/>
              <a:ext cx="233513" cy="69248"/>
            </a:xfrm>
            <a:prstGeom prst="line">
              <a:avLst/>
            </a:prstGeom>
            <a:ln cap="flat" w="1531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2" id="72"/>
            <p:cNvSpPr txBox="true"/>
            <p:nvPr/>
          </p:nvSpPr>
          <p:spPr>
            <a:xfrm rot="0">
              <a:off x="1980377" y="355273"/>
              <a:ext cx="188866" cy="343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4"/>
                </a:lnSpc>
                <a:spcBef>
                  <a:spcPct val="0"/>
                </a:spcBef>
              </a:pPr>
              <a:r>
                <a:rPr lang="en-US" b="true" sz="1510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73" id="73"/>
            <p:cNvSpPr/>
            <p:nvPr/>
          </p:nvSpPr>
          <p:spPr>
            <a:xfrm>
              <a:off x="1304579" y="553601"/>
              <a:ext cx="237073" cy="67602"/>
            </a:xfrm>
            <a:prstGeom prst="line">
              <a:avLst/>
            </a:prstGeom>
            <a:ln cap="flat" w="1531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4" id="74"/>
            <p:cNvSpPr txBox="true"/>
            <p:nvPr/>
          </p:nvSpPr>
          <p:spPr>
            <a:xfrm rot="0">
              <a:off x="1105938" y="355273"/>
              <a:ext cx="188866" cy="343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4"/>
                </a:lnSpc>
                <a:spcBef>
                  <a:spcPct val="0"/>
                </a:spcBef>
              </a:pPr>
              <a:r>
                <a:rPr lang="en-US" b="true" sz="1510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75" id="75"/>
            <p:cNvSpPr/>
            <p:nvPr/>
          </p:nvSpPr>
          <p:spPr>
            <a:xfrm>
              <a:off x="1065654" y="3353482"/>
              <a:ext cx="0" cy="233663"/>
            </a:xfrm>
            <a:prstGeom prst="line">
              <a:avLst/>
            </a:prstGeom>
            <a:ln cap="flat" w="1531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6" id="76"/>
            <p:cNvSpPr/>
            <p:nvPr/>
          </p:nvSpPr>
          <p:spPr>
            <a:xfrm flipH="true">
              <a:off x="576182" y="3710368"/>
              <a:ext cx="358543" cy="235058"/>
            </a:xfrm>
            <a:prstGeom prst="line">
              <a:avLst/>
            </a:prstGeom>
            <a:ln cap="flat" w="1531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7" id="77"/>
            <p:cNvSpPr txBox="true"/>
            <p:nvPr/>
          </p:nvSpPr>
          <p:spPr>
            <a:xfrm rot="0">
              <a:off x="967734" y="3503538"/>
              <a:ext cx="173269" cy="343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2"/>
                </a:lnSpc>
                <a:spcBef>
                  <a:spcPct val="0"/>
                </a:spcBef>
              </a:pPr>
              <a:r>
                <a:rPr lang="en-US" b="true" sz="1509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O</a:t>
              </a:r>
            </a:p>
          </p:txBody>
        </p:sp>
        <p:sp>
          <p:nvSpPr>
            <p:cNvPr name="TextBox 78" id="78"/>
            <p:cNvSpPr txBox="true"/>
            <p:nvPr/>
          </p:nvSpPr>
          <p:spPr>
            <a:xfrm rot="0">
              <a:off x="348845" y="3812988"/>
              <a:ext cx="173269" cy="343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2"/>
                </a:lnSpc>
                <a:spcBef>
                  <a:spcPct val="0"/>
                </a:spcBef>
              </a:pPr>
              <a:r>
                <a:rPr lang="en-US" b="true" sz="1509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79" id="79"/>
            <p:cNvSpPr/>
            <p:nvPr/>
          </p:nvSpPr>
          <p:spPr>
            <a:xfrm flipH="true">
              <a:off x="1733151" y="2156360"/>
              <a:ext cx="228872" cy="62519"/>
            </a:xfrm>
            <a:prstGeom prst="line">
              <a:avLst/>
            </a:prstGeom>
            <a:ln cap="flat" w="1531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0" id="80"/>
            <p:cNvSpPr txBox="true"/>
            <p:nvPr/>
          </p:nvSpPr>
          <p:spPr>
            <a:xfrm rot="0">
              <a:off x="1963006" y="1908404"/>
              <a:ext cx="188839" cy="3431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4"/>
                </a:lnSpc>
                <a:spcBef>
                  <a:spcPct val="0"/>
                </a:spcBef>
              </a:pPr>
              <a:r>
                <a:rPr lang="en-US" b="true" sz="1510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81" id="81"/>
            <p:cNvSpPr/>
            <p:nvPr/>
          </p:nvSpPr>
          <p:spPr>
            <a:xfrm flipH="true" flipV="true">
              <a:off x="1725823" y="2870613"/>
              <a:ext cx="220260" cy="73487"/>
            </a:xfrm>
            <a:prstGeom prst="line">
              <a:avLst/>
            </a:prstGeom>
            <a:ln cap="flat" w="1531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2" id="82"/>
            <p:cNvSpPr txBox="true"/>
            <p:nvPr/>
          </p:nvSpPr>
          <p:spPr>
            <a:xfrm rot="0">
              <a:off x="1946083" y="2781135"/>
              <a:ext cx="188981" cy="34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6"/>
                </a:lnSpc>
                <a:spcBef>
                  <a:spcPct val="0"/>
                </a:spcBef>
              </a:pPr>
              <a:r>
                <a:rPr lang="en-US" b="true" sz="1511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TextBox 83" id="83"/>
            <p:cNvSpPr txBox="true"/>
            <p:nvPr/>
          </p:nvSpPr>
          <p:spPr>
            <a:xfrm rot="0">
              <a:off x="997311" y="940785"/>
              <a:ext cx="53818" cy="343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4"/>
                </a:lnSpc>
                <a:spcBef>
                  <a:spcPct val="0"/>
                </a:spcBef>
              </a:pPr>
              <a:r>
                <a:rPr lang="en-US" b="true" sz="1510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84" id="84"/>
            <p:cNvSpPr txBox="true"/>
            <p:nvPr/>
          </p:nvSpPr>
          <p:spPr>
            <a:xfrm rot="0">
              <a:off x="1087185" y="940785"/>
              <a:ext cx="53818" cy="343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4"/>
                </a:lnSpc>
                <a:spcBef>
                  <a:spcPct val="0"/>
                </a:spcBef>
              </a:pPr>
              <a:r>
                <a:rPr lang="en-US" b="true" sz="1510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85" id="85"/>
            <p:cNvSpPr txBox="true"/>
            <p:nvPr/>
          </p:nvSpPr>
          <p:spPr>
            <a:xfrm rot="2530135">
              <a:off x="2104419" y="1279080"/>
              <a:ext cx="53818" cy="343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4"/>
                </a:lnSpc>
                <a:spcBef>
                  <a:spcPct val="0"/>
                </a:spcBef>
              </a:pPr>
              <a:r>
                <a:rPr lang="en-US" b="true" sz="1510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86" id="86"/>
            <p:cNvSpPr txBox="true"/>
            <p:nvPr/>
          </p:nvSpPr>
          <p:spPr>
            <a:xfrm rot="2530135">
              <a:off x="2171031" y="1339414"/>
              <a:ext cx="53818" cy="343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4"/>
                </a:lnSpc>
                <a:spcBef>
                  <a:spcPct val="0"/>
                </a:spcBef>
              </a:pPr>
              <a:r>
                <a:rPr lang="en-US" b="true" sz="1510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87" id="87"/>
            <p:cNvSpPr txBox="true"/>
            <p:nvPr/>
          </p:nvSpPr>
          <p:spPr>
            <a:xfrm rot="-2070486">
              <a:off x="2221578" y="1327993"/>
              <a:ext cx="53818" cy="343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4"/>
                </a:lnSpc>
                <a:spcBef>
                  <a:spcPct val="0"/>
                </a:spcBef>
              </a:pPr>
              <a:r>
                <a:rPr lang="en-US" b="true" sz="1510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88" id="88"/>
            <p:cNvSpPr txBox="true"/>
            <p:nvPr/>
          </p:nvSpPr>
          <p:spPr>
            <a:xfrm rot="-2070486">
              <a:off x="2295638" y="1277077"/>
              <a:ext cx="53818" cy="343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4"/>
                </a:lnSpc>
                <a:spcBef>
                  <a:spcPct val="0"/>
                </a:spcBef>
              </a:pPr>
              <a:r>
                <a:rPr lang="en-US" b="true" sz="1510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89" id="89"/>
            <p:cNvSpPr txBox="true"/>
            <p:nvPr/>
          </p:nvSpPr>
          <p:spPr>
            <a:xfrm rot="0">
              <a:off x="986137" y="3586418"/>
              <a:ext cx="53818" cy="343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4"/>
                </a:lnSpc>
                <a:spcBef>
                  <a:spcPct val="0"/>
                </a:spcBef>
              </a:pPr>
              <a:r>
                <a:rPr lang="en-US" b="true" sz="1510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90" id="90"/>
            <p:cNvSpPr txBox="true"/>
            <p:nvPr/>
          </p:nvSpPr>
          <p:spPr>
            <a:xfrm rot="0">
              <a:off x="1076011" y="3586418"/>
              <a:ext cx="53818" cy="343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4"/>
                </a:lnSpc>
                <a:spcBef>
                  <a:spcPct val="0"/>
                </a:spcBef>
              </a:pPr>
              <a:r>
                <a:rPr lang="en-US" b="true" sz="1510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91" id="91"/>
            <p:cNvSpPr txBox="true"/>
            <p:nvPr/>
          </p:nvSpPr>
          <p:spPr>
            <a:xfrm rot="-5400000">
              <a:off x="1087706" y="3583472"/>
              <a:ext cx="53818" cy="343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4"/>
                </a:lnSpc>
                <a:spcBef>
                  <a:spcPct val="0"/>
                </a:spcBef>
              </a:pPr>
              <a:r>
                <a:rPr lang="en-US" b="true" sz="1510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92" id="92"/>
            <p:cNvSpPr txBox="true"/>
            <p:nvPr/>
          </p:nvSpPr>
          <p:spPr>
            <a:xfrm rot="-5400000">
              <a:off x="1087706" y="3493598"/>
              <a:ext cx="53818" cy="343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4"/>
                </a:lnSpc>
                <a:spcBef>
                  <a:spcPct val="0"/>
                </a:spcBef>
              </a:pPr>
              <a:r>
                <a:rPr lang="en-US" b="true" sz="1510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AutoShape 93" id="93"/>
            <p:cNvSpPr/>
            <p:nvPr/>
          </p:nvSpPr>
          <p:spPr>
            <a:xfrm flipV="true">
              <a:off x="221087" y="2894115"/>
              <a:ext cx="240375" cy="56558"/>
            </a:xfrm>
            <a:prstGeom prst="line">
              <a:avLst/>
            </a:prstGeom>
            <a:ln cap="flat" w="1531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4" id="94"/>
            <p:cNvSpPr txBox="true"/>
            <p:nvPr/>
          </p:nvSpPr>
          <p:spPr>
            <a:xfrm rot="0">
              <a:off x="25974" y="2753218"/>
              <a:ext cx="189223" cy="343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4"/>
                </a:lnSpc>
                <a:spcBef>
                  <a:spcPct val="0"/>
                </a:spcBef>
              </a:pPr>
              <a:r>
                <a:rPr lang="en-US" b="true" sz="1510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95" id="95"/>
            <p:cNvSpPr/>
            <p:nvPr/>
          </p:nvSpPr>
          <p:spPr>
            <a:xfrm>
              <a:off x="214065" y="2185812"/>
              <a:ext cx="245772" cy="53287"/>
            </a:xfrm>
            <a:prstGeom prst="line">
              <a:avLst/>
            </a:prstGeom>
            <a:ln cap="flat" w="1531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6" id="96"/>
            <p:cNvSpPr txBox="true"/>
            <p:nvPr/>
          </p:nvSpPr>
          <p:spPr>
            <a:xfrm rot="0">
              <a:off x="0" y="1973432"/>
              <a:ext cx="189223" cy="343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4"/>
                </a:lnSpc>
                <a:spcBef>
                  <a:spcPct val="0"/>
                </a:spcBef>
              </a:pPr>
              <a:r>
                <a:rPr lang="en-US" b="true" sz="1510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97" id="97"/>
            <p:cNvSpPr/>
            <p:nvPr/>
          </p:nvSpPr>
          <p:spPr>
            <a:xfrm>
              <a:off x="1636951" y="270602"/>
              <a:ext cx="382" cy="245542"/>
            </a:xfrm>
            <a:prstGeom prst="line">
              <a:avLst/>
            </a:prstGeom>
            <a:ln cap="flat" w="1531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8" id="98"/>
            <p:cNvSpPr txBox="true"/>
            <p:nvPr/>
          </p:nvSpPr>
          <p:spPr>
            <a:xfrm rot="0">
              <a:off x="1543755" y="-38100"/>
              <a:ext cx="188866" cy="343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4"/>
                </a:lnSpc>
                <a:spcBef>
                  <a:spcPct val="0"/>
                </a:spcBef>
              </a:pPr>
              <a:r>
                <a:rPr lang="en-US" b="true" sz="1510" spc="-6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566000" y="156600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7560000"/>
                </a:moveTo>
                <a:lnTo>
                  <a:pt x="0" y="0"/>
                </a:ln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close/>
              </a:path>
            </a:pathLst>
          </a:custGeom>
          <a:blipFill>
            <a:blip r:embed="rId2"/>
            <a:stretch>
              <a:fillRect l="-3063" t="0" r="-306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498" y="9328830"/>
            <a:ext cx="7255003" cy="952364"/>
            <a:chOff x="0" y="0"/>
            <a:chExt cx="9128989" cy="11983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28989" cy="1198362"/>
            </a:xfrm>
            <a:custGeom>
              <a:avLst/>
              <a:gdLst/>
              <a:ahLst/>
              <a:cxnLst/>
              <a:rect r="r" b="b" t="t" l="l"/>
              <a:pathLst>
                <a:path h="1198362" w="9128989">
                  <a:moveTo>
                    <a:pt x="26468" y="0"/>
                  </a:moveTo>
                  <a:lnTo>
                    <a:pt x="9102521" y="0"/>
                  </a:lnTo>
                  <a:cubicBezTo>
                    <a:pt x="9109541" y="0"/>
                    <a:pt x="9116273" y="2789"/>
                    <a:pt x="9121237" y="7752"/>
                  </a:cubicBezTo>
                  <a:cubicBezTo>
                    <a:pt x="9126201" y="12716"/>
                    <a:pt x="9128989" y="19448"/>
                    <a:pt x="9128989" y="26468"/>
                  </a:cubicBezTo>
                  <a:lnTo>
                    <a:pt x="9128989" y="1171895"/>
                  </a:lnTo>
                  <a:cubicBezTo>
                    <a:pt x="9128989" y="1186512"/>
                    <a:pt x="9117140" y="1198362"/>
                    <a:pt x="9102521" y="1198362"/>
                  </a:cubicBezTo>
                  <a:lnTo>
                    <a:pt x="26468" y="1198362"/>
                  </a:lnTo>
                  <a:cubicBezTo>
                    <a:pt x="19448" y="1198362"/>
                    <a:pt x="12716" y="1195574"/>
                    <a:pt x="7752" y="1190610"/>
                  </a:cubicBezTo>
                  <a:cubicBezTo>
                    <a:pt x="2789" y="1185647"/>
                    <a:pt x="0" y="1178914"/>
                    <a:pt x="0" y="1171895"/>
                  </a:cubicBezTo>
                  <a:lnTo>
                    <a:pt x="0" y="26468"/>
                  </a:lnTo>
                  <a:cubicBezTo>
                    <a:pt x="0" y="11850"/>
                    <a:pt x="11850" y="0"/>
                    <a:pt x="2646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9128989" cy="1217412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6499" y="1579171"/>
            <a:ext cx="3594051" cy="3745667"/>
            <a:chOff x="0" y="0"/>
            <a:chExt cx="4676784" cy="4874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76784" cy="4874075"/>
            </a:xfrm>
            <a:custGeom>
              <a:avLst/>
              <a:gdLst/>
              <a:ahLst/>
              <a:cxnLst/>
              <a:rect r="r" b="b" t="t" l="l"/>
              <a:pathLst>
                <a:path h="4874075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820647"/>
                  </a:lnTo>
                  <a:cubicBezTo>
                    <a:pt x="4676784" y="4850154"/>
                    <a:pt x="4652863" y="4874075"/>
                    <a:pt x="4623356" y="4874075"/>
                  </a:cubicBezTo>
                  <a:lnTo>
                    <a:pt x="53428" y="4874075"/>
                  </a:lnTo>
                  <a:cubicBezTo>
                    <a:pt x="23921" y="4874075"/>
                    <a:pt x="0" y="4850154"/>
                    <a:pt x="0" y="4820647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4676784" cy="4893125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16499" y="2091298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3856436" y="1605876"/>
            <a:ext cx="3594051" cy="3745667"/>
            <a:chOff x="0" y="0"/>
            <a:chExt cx="4676784" cy="48740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76784" cy="4874075"/>
            </a:xfrm>
            <a:custGeom>
              <a:avLst/>
              <a:gdLst/>
              <a:ahLst/>
              <a:cxnLst/>
              <a:rect r="r" b="b" t="t" l="l"/>
              <a:pathLst>
                <a:path h="4874075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820647"/>
                  </a:lnTo>
                  <a:cubicBezTo>
                    <a:pt x="4676784" y="4850154"/>
                    <a:pt x="4652863" y="4874075"/>
                    <a:pt x="4623356" y="4874075"/>
                  </a:cubicBezTo>
                  <a:lnTo>
                    <a:pt x="53428" y="4874075"/>
                  </a:lnTo>
                  <a:cubicBezTo>
                    <a:pt x="23921" y="4874075"/>
                    <a:pt x="0" y="4850154"/>
                    <a:pt x="0" y="4820647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676784" cy="4921700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3856436" y="2095903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16499" y="5560287"/>
            <a:ext cx="3594051" cy="3627768"/>
            <a:chOff x="0" y="0"/>
            <a:chExt cx="4676784" cy="47206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76784" cy="4720658"/>
            </a:xfrm>
            <a:custGeom>
              <a:avLst/>
              <a:gdLst/>
              <a:ahLst/>
              <a:cxnLst/>
              <a:rect r="r" b="b" t="t" l="l"/>
              <a:pathLst>
                <a:path h="4720658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667230"/>
                  </a:lnTo>
                  <a:cubicBezTo>
                    <a:pt x="4676784" y="4696738"/>
                    <a:pt x="4652863" y="4720658"/>
                    <a:pt x="4623356" y="4720658"/>
                  </a:cubicBezTo>
                  <a:lnTo>
                    <a:pt x="53428" y="4720658"/>
                  </a:lnTo>
                  <a:cubicBezTo>
                    <a:pt x="23921" y="4720658"/>
                    <a:pt x="0" y="4696738"/>
                    <a:pt x="0" y="4667230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4676784" cy="4739709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116499" y="6027150"/>
            <a:ext cx="3594051" cy="23164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3856436" y="5532517"/>
            <a:ext cx="3594051" cy="3627768"/>
            <a:chOff x="0" y="0"/>
            <a:chExt cx="4676784" cy="47206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76784" cy="4720658"/>
            </a:xfrm>
            <a:custGeom>
              <a:avLst/>
              <a:gdLst/>
              <a:ahLst/>
              <a:cxnLst/>
              <a:rect r="r" b="b" t="t" l="l"/>
              <a:pathLst>
                <a:path h="4720658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667230"/>
                  </a:lnTo>
                  <a:cubicBezTo>
                    <a:pt x="4676784" y="4696738"/>
                    <a:pt x="4652863" y="4720658"/>
                    <a:pt x="4623356" y="4720658"/>
                  </a:cubicBezTo>
                  <a:lnTo>
                    <a:pt x="53428" y="4720658"/>
                  </a:lnTo>
                  <a:cubicBezTo>
                    <a:pt x="23921" y="4720658"/>
                    <a:pt x="0" y="4696738"/>
                    <a:pt x="0" y="4667230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676784" cy="4768284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3856436" y="6022545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286778" y="9920890"/>
            <a:ext cx="170658" cy="170658"/>
          </a:xfrm>
          <a:custGeom>
            <a:avLst/>
            <a:gdLst/>
            <a:ahLst/>
            <a:cxnLst/>
            <a:rect r="r" b="b" t="t" l="l"/>
            <a:pathLst>
              <a:path h="170658" w="170658">
                <a:moveTo>
                  <a:pt x="0" y="0"/>
                </a:moveTo>
                <a:lnTo>
                  <a:pt x="170657" y="0"/>
                </a:lnTo>
                <a:lnTo>
                  <a:pt x="170657" y="170657"/>
                </a:lnTo>
                <a:lnTo>
                  <a:pt x="0" y="1706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688799" y="9926089"/>
            <a:ext cx="170565" cy="170565"/>
          </a:xfrm>
          <a:custGeom>
            <a:avLst/>
            <a:gdLst/>
            <a:ahLst/>
            <a:cxnLst/>
            <a:rect r="r" b="b" t="t" l="l"/>
            <a:pathLst>
              <a:path h="170565" w="170565">
                <a:moveTo>
                  <a:pt x="0" y="0"/>
                </a:moveTo>
                <a:lnTo>
                  <a:pt x="170565" y="0"/>
                </a:lnTo>
                <a:lnTo>
                  <a:pt x="170565" y="170565"/>
                </a:lnTo>
                <a:lnTo>
                  <a:pt x="0" y="17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963969" y="9928748"/>
            <a:ext cx="169417" cy="169417"/>
          </a:xfrm>
          <a:custGeom>
            <a:avLst/>
            <a:gdLst/>
            <a:ahLst/>
            <a:cxnLst/>
            <a:rect r="r" b="b" t="t" l="l"/>
            <a:pathLst>
              <a:path h="169417" w="169417">
                <a:moveTo>
                  <a:pt x="0" y="0"/>
                </a:moveTo>
                <a:lnTo>
                  <a:pt x="169416" y="0"/>
                </a:lnTo>
                <a:lnTo>
                  <a:pt x="169416" y="169417"/>
                </a:lnTo>
                <a:lnTo>
                  <a:pt x="0" y="1694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197942" y="9936549"/>
            <a:ext cx="170371" cy="170371"/>
          </a:xfrm>
          <a:custGeom>
            <a:avLst/>
            <a:gdLst/>
            <a:ahLst/>
            <a:cxnLst/>
            <a:rect r="r" b="b" t="t" l="l"/>
            <a:pathLst>
              <a:path h="170371" w="170371">
                <a:moveTo>
                  <a:pt x="0" y="0"/>
                </a:moveTo>
                <a:lnTo>
                  <a:pt x="170371" y="0"/>
                </a:lnTo>
                <a:lnTo>
                  <a:pt x="170371" y="170371"/>
                </a:lnTo>
                <a:lnTo>
                  <a:pt x="0" y="1703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061482" y="6081551"/>
            <a:ext cx="3058323" cy="3037728"/>
          </a:xfrm>
          <a:custGeom>
            <a:avLst/>
            <a:gdLst/>
            <a:ahLst/>
            <a:cxnLst/>
            <a:rect r="r" b="b" t="t" l="l"/>
            <a:pathLst>
              <a:path h="3037728" w="3058323">
                <a:moveTo>
                  <a:pt x="0" y="0"/>
                </a:moveTo>
                <a:lnTo>
                  <a:pt x="3058323" y="0"/>
                </a:lnTo>
                <a:lnTo>
                  <a:pt x="3058323" y="3037729"/>
                </a:lnTo>
                <a:lnTo>
                  <a:pt x="0" y="30377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486917" y="9938273"/>
            <a:ext cx="1334254" cy="151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7"/>
              </a:lnSpc>
              <a:spcBef>
                <a:spcPct val="0"/>
              </a:spcBef>
            </a:pPr>
            <a:r>
              <a:rPr lang="en-US" sz="1082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atom count verified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7462" y="91782"/>
            <a:ext cx="2617705" cy="60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  <a:spcBef>
                <a:spcPct val="0"/>
              </a:spcBef>
            </a:pPr>
            <a:r>
              <a:rPr lang="en-US" b="true" sz="3459" spc="-138">
                <a:solidFill>
                  <a:srgbClr val="000001"/>
                </a:solidFill>
                <a:latin typeface="Aileron Bold"/>
                <a:ea typeface="Aileron Bold"/>
                <a:cs typeface="Aileron Bold"/>
                <a:sym typeface="Aileron Bold"/>
              </a:rPr>
              <a:t>CARD 09 ―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512159" y="55328"/>
            <a:ext cx="1862843" cy="63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5"/>
              </a:lnSpc>
              <a:spcBef>
                <a:spcPct val="0"/>
              </a:spcBef>
            </a:pPr>
            <a:r>
              <a:rPr lang="en-US" sz="3753" spc="-150">
                <a:solidFill>
                  <a:srgbClr val="BD1B1B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ASPIRIN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14238" y="798180"/>
            <a:ext cx="6731523" cy="58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2"/>
              </a:lnSpc>
            </a:pPr>
            <a:r>
              <a:rPr lang="en-US" b="true" sz="1600" i="true" spc="4">
                <a:solidFill>
                  <a:srgbClr val="700C0C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(acetylsalicylic acid)</a:t>
            </a:r>
          </a:p>
          <a:p>
            <a:pPr algn="ctr">
              <a:lnSpc>
                <a:spcPts val="4000"/>
              </a:lnSpc>
              <a:spcBef>
                <a:spcPct val="0"/>
              </a:spcBef>
            </a:pPr>
            <a:r>
              <a:rPr lang="en-US" b="true" sz="1600" spc="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“TWO FUNCTIONAL GROUPS, ONE RING”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290401" y="239621"/>
            <a:ext cx="105213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-92">
                <a:solidFill>
                  <a:srgbClr val="BD1B1B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(C₉H₈O₄)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21545" y="1636744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1. MOLECULAR FORMULA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32262" y="2927882"/>
            <a:ext cx="1762524" cy="71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1"/>
              </a:lnSpc>
              <a:spcBef>
                <a:spcPct val="0"/>
              </a:spcBef>
            </a:pPr>
            <a:r>
              <a:rPr lang="en-US" b="true" sz="4158" spc="-16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C₉H₈O₄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38378" y="3868935"/>
            <a:ext cx="2623076" cy="21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  <a:spcBef>
                <a:spcPct val="0"/>
              </a:spcBef>
            </a:pPr>
            <a:r>
              <a:rPr lang="en-US" b="true" sz="1257" spc="-50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9 C + 8 H </a:t>
            </a:r>
            <a:r>
              <a:rPr lang="en-US" b="true" sz="1257" spc="-50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+ 4 O = 21 atoms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061482" y="1636744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2</a:t>
            </a: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LEWIS STRUCTURE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6499" y="5652555"/>
            <a:ext cx="3572331" cy="25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0"/>
              </a:lnSpc>
              <a:spcBef>
                <a:spcPct val="0"/>
              </a:spcBef>
            </a:pPr>
            <a:r>
              <a:rPr lang="en-US" b="true" sz="1450" i="true" spc="-5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3</a:t>
            </a:r>
            <a:r>
              <a:rPr lang="en-US" b="true" sz="1450" i="true" spc="-5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CONDENSED STRUCTURAL FORMULA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79707" y="7103686"/>
            <a:ext cx="3467634" cy="428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5"/>
              </a:lnSpc>
              <a:spcBef>
                <a:spcPct val="0"/>
              </a:spcBef>
            </a:pPr>
            <a:r>
              <a:rPr lang="en-US" b="true" sz="2460" spc="-9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C₆H₄(COOH)(OCOCH₃)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061482" y="5562890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4</a:t>
            </a: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BOND-LINE FORMULA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205153" y="9443130"/>
            <a:ext cx="3149694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 i="true" spc="-6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VERIFICATION STRIP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895197" y="9943468"/>
            <a:ext cx="1104976" cy="15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7"/>
              </a:lnSpc>
              <a:spcBef>
                <a:spcPct val="0"/>
              </a:spcBef>
            </a:pPr>
            <a:r>
              <a:rPr lang="en-US" sz="1081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v</a:t>
            </a:r>
            <a:r>
              <a:rPr lang="en-US" sz="1081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alence checked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171569" y="9946074"/>
            <a:ext cx="1324555" cy="15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9"/>
              </a:lnSpc>
              <a:spcBef>
                <a:spcPct val="0"/>
              </a:spcBef>
            </a:pPr>
            <a:r>
              <a:rPr lang="en-US" sz="1074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bo</a:t>
            </a:r>
            <a:r>
              <a:rPr lang="en-US" sz="1074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nd order checked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404073" y="9953918"/>
            <a:ext cx="1869150" cy="151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  <a:spcBef>
                <a:spcPct val="0"/>
              </a:spcBef>
            </a:pPr>
            <a:r>
              <a:rPr lang="en-US" sz="1080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same co</a:t>
            </a:r>
            <a:r>
              <a:rPr lang="en-US" sz="1080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nnectivity confirmed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58070" y="10355145"/>
            <a:ext cx="564386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 i="true" spc="-48">
                <a:solidFill>
                  <a:srgbClr val="700C0C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ChE Connection: Pharmaceutical Production, Chemical Synthesis, and Quality Control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3982563" y="2204585"/>
            <a:ext cx="3341797" cy="3013607"/>
            <a:chOff x="0" y="0"/>
            <a:chExt cx="4455730" cy="4018143"/>
          </a:xfrm>
        </p:grpSpPr>
        <p:sp>
          <p:nvSpPr>
            <p:cNvPr name="TextBox 45" id="45"/>
            <p:cNvSpPr txBox="true"/>
            <p:nvPr/>
          </p:nvSpPr>
          <p:spPr>
            <a:xfrm rot="0">
              <a:off x="3007265" y="1447383"/>
              <a:ext cx="212600" cy="4130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2"/>
                </a:lnSpc>
                <a:spcBef>
                  <a:spcPct val="0"/>
                </a:spcBef>
              </a:pPr>
              <a:r>
                <a:rPr lang="en-US" b="true" sz="1851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46" id="46"/>
            <p:cNvSpPr/>
            <p:nvPr/>
          </p:nvSpPr>
          <p:spPr>
            <a:xfrm flipH="true">
              <a:off x="2610700" y="1739980"/>
              <a:ext cx="368661" cy="314017"/>
            </a:xfrm>
            <a:prstGeom prst="line">
              <a:avLst/>
            </a:prstGeom>
            <a:ln cap="flat" w="1882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7" id="47"/>
            <p:cNvSpPr txBox="true"/>
            <p:nvPr/>
          </p:nvSpPr>
          <p:spPr>
            <a:xfrm rot="0">
              <a:off x="2420348" y="1960674"/>
              <a:ext cx="212600" cy="4130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2"/>
                </a:lnSpc>
                <a:spcBef>
                  <a:spcPct val="0"/>
                </a:spcBef>
              </a:pPr>
              <a:r>
                <a:rPr lang="en-US" b="true" sz="1851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48" id="48"/>
            <p:cNvSpPr/>
            <p:nvPr/>
          </p:nvSpPr>
          <p:spPr>
            <a:xfrm flipH="true">
              <a:off x="2480821" y="2350286"/>
              <a:ext cx="0" cy="441845"/>
            </a:xfrm>
            <a:prstGeom prst="line">
              <a:avLst/>
            </a:prstGeom>
            <a:ln cap="flat" w="1882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9" id="49"/>
            <p:cNvSpPr txBox="true"/>
            <p:nvPr/>
          </p:nvSpPr>
          <p:spPr>
            <a:xfrm rot="0">
              <a:off x="2407323" y="2703321"/>
              <a:ext cx="212600" cy="4130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2"/>
                </a:lnSpc>
                <a:spcBef>
                  <a:spcPct val="0"/>
                </a:spcBef>
              </a:pPr>
              <a:r>
                <a:rPr lang="en-US" b="true" sz="1851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50" id="50"/>
            <p:cNvSpPr/>
            <p:nvPr/>
          </p:nvSpPr>
          <p:spPr>
            <a:xfrm flipH="true" flipV="true">
              <a:off x="2583929" y="3094451"/>
              <a:ext cx="411059" cy="256025"/>
            </a:xfrm>
            <a:prstGeom prst="line">
              <a:avLst/>
            </a:prstGeom>
            <a:ln cap="flat" w="1882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1" id="51"/>
            <p:cNvSpPr txBox="true"/>
            <p:nvPr/>
          </p:nvSpPr>
          <p:spPr>
            <a:xfrm rot="0">
              <a:off x="3007265" y="3124882"/>
              <a:ext cx="212600" cy="4130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2"/>
                </a:lnSpc>
                <a:spcBef>
                  <a:spcPct val="0"/>
                </a:spcBef>
              </a:pPr>
              <a:r>
                <a:rPr lang="en-US" b="true" sz="1851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3693970" y="1918751"/>
              <a:ext cx="212600" cy="4130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2"/>
                </a:lnSpc>
                <a:spcBef>
                  <a:spcPct val="0"/>
                </a:spcBef>
              </a:pPr>
              <a:r>
                <a:rPr lang="en-US" b="true" sz="1851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3693970" y="2703321"/>
              <a:ext cx="212600" cy="4130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2"/>
                </a:lnSpc>
                <a:spcBef>
                  <a:spcPct val="0"/>
                </a:spcBef>
              </a:pPr>
              <a:r>
                <a:rPr lang="en-US" b="true" sz="1851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54" id="54"/>
            <p:cNvSpPr/>
            <p:nvPr/>
          </p:nvSpPr>
          <p:spPr>
            <a:xfrm flipH="true">
              <a:off x="3273250" y="3050463"/>
              <a:ext cx="394981" cy="280193"/>
            </a:xfrm>
            <a:prstGeom prst="line">
              <a:avLst/>
            </a:prstGeom>
            <a:ln cap="flat" w="1882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5" id="55"/>
            <p:cNvSpPr/>
            <p:nvPr/>
          </p:nvSpPr>
          <p:spPr>
            <a:xfrm flipH="true" flipV="true">
              <a:off x="3291567" y="1692469"/>
              <a:ext cx="445303" cy="287764"/>
            </a:xfrm>
            <a:prstGeom prst="line">
              <a:avLst/>
            </a:prstGeom>
            <a:ln cap="flat" w="1882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6" id="56"/>
            <p:cNvSpPr/>
            <p:nvPr/>
          </p:nvSpPr>
          <p:spPr>
            <a:xfrm flipH="true">
              <a:off x="3803345" y="2313392"/>
              <a:ext cx="0" cy="441845"/>
            </a:xfrm>
            <a:prstGeom prst="line">
              <a:avLst/>
            </a:prstGeom>
            <a:ln cap="flat" w="1882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7" id="57"/>
            <p:cNvSpPr/>
            <p:nvPr/>
          </p:nvSpPr>
          <p:spPr>
            <a:xfrm flipH="true" flipV="true">
              <a:off x="3255616" y="1755413"/>
              <a:ext cx="445303" cy="287764"/>
            </a:xfrm>
            <a:prstGeom prst="line">
              <a:avLst/>
            </a:prstGeom>
            <a:ln cap="flat" w="1882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8" id="58"/>
            <p:cNvSpPr/>
            <p:nvPr/>
          </p:nvSpPr>
          <p:spPr>
            <a:xfrm flipH="true">
              <a:off x="3322442" y="3099654"/>
              <a:ext cx="394981" cy="280193"/>
            </a:xfrm>
            <a:prstGeom prst="line">
              <a:avLst/>
            </a:prstGeom>
            <a:ln cap="flat" w="1882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9" id="59"/>
            <p:cNvSpPr/>
            <p:nvPr/>
          </p:nvSpPr>
          <p:spPr>
            <a:xfrm flipH="true">
              <a:off x="2552575" y="2352898"/>
              <a:ext cx="0" cy="441845"/>
            </a:xfrm>
            <a:prstGeom prst="line">
              <a:avLst/>
            </a:prstGeom>
            <a:ln cap="flat" w="1882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0" id="60"/>
            <p:cNvSpPr txBox="true"/>
            <p:nvPr/>
          </p:nvSpPr>
          <p:spPr>
            <a:xfrm rot="0">
              <a:off x="3007265" y="860094"/>
              <a:ext cx="212600" cy="4130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2"/>
                </a:lnSpc>
                <a:spcBef>
                  <a:spcPct val="0"/>
                </a:spcBef>
              </a:pPr>
              <a:r>
                <a:rPr lang="en-US" b="true" sz="1851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61" id="61"/>
            <p:cNvSpPr/>
            <p:nvPr/>
          </p:nvSpPr>
          <p:spPr>
            <a:xfrm>
              <a:off x="3121851" y="1240185"/>
              <a:ext cx="0" cy="286703"/>
            </a:xfrm>
            <a:prstGeom prst="line">
              <a:avLst/>
            </a:prstGeom>
            <a:ln cap="flat" w="1882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2" id="62"/>
            <p:cNvSpPr/>
            <p:nvPr/>
          </p:nvSpPr>
          <p:spPr>
            <a:xfrm flipH="true">
              <a:off x="3260989" y="790965"/>
              <a:ext cx="439930" cy="288415"/>
            </a:xfrm>
            <a:prstGeom prst="line">
              <a:avLst/>
            </a:prstGeom>
            <a:ln cap="flat" w="1882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3" id="63"/>
            <p:cNvSpPr/>
            <p:nvPr/>
          </p:nvSpPr>
          <p:spPr>
            <a:xfrm flipH="true" flipV="true">
              <a:off x="2547441" y="746300"/>
              <a:ext cx="445303" cy="287764"/>
            </a:xfrm>
            <a:prstGeom prst="line">
              <a:avLst/>
            </a:prstGeom>
            <a:ln cap="flat" w="1882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4" id="64"/>
            <p:cNvSpPr/>
            <p:nvPr/>
          </p:nvSpPr>
          <p:spPr>
            <a:xfrm flipH="true" flipV="true">
              <a:off x="2511490" y="809243"/>
              <a:ext cx="445303" cy="287764"/>
            </a:xfrm>
            <a:prstGeom prst="line">
              <a:avLst/>
            </a:prstGeom>
            <a:ln cap="flat" w="1882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5" id="65"/>
            <p:cNvSpPr/>
            <p:nvPr/>
          </p:nvSpPr>
          <p:spPr>
            <a:xfrm>
              <a:off x="3823723" y="337251"/>
              <a:ext cx="468" cy="301279"/>
            </a:xfrm>
            <a:prstGeom prst="line">
              <a:avLst/>
            </a:prstGeom>
            <a:ln cap="flat" w="1882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6" id="66"/>
            <p:cNvSpPr txBox="true"/>
            <p:nvPr/>
          </p:nvSpPr>
          <p:spPr>
            <a:xfrm rot="0">
              <a:off x="3717423" y="-38100"/>
              <a:ext cx="212600" cy="4130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2"/>
                </a:lnSpc>
                <a:spcBef>
                  <a:spcPct val="0"/>
                </a:spcBef>
              </a:pPr>
              <a:r>
                <a:rPr lang="en-US" b="true" sz="1851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67" id="67"/>
            <p:cNvSpPr/>
            <p:nvPr/>
          </p:nvSpPr>
          <p:spPr>
            <a:xfrm flipH="true">
              <a:off x="2980854" y="3518066"/>
              <a:ext cx="137329" cy="267723"/>
            </a:xfrm>
            <a:prstGeom prst="line">
              <a:avLst/>
            </a:prstGeom>
            <a:ln cap="flat" w="1882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8" id="68"/>
            <p:cNvSpPr txBox="true"/>
            <p:nvPr/>
          </p:nvSpPr>
          <p:spPr>
            <a:xfrm rot="0">
              <a:off x="2719699" y="3605055"/>
              <a:ext cx="212600" cy="4130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2"/>
                </a:lnSpc>
                <a:spcBef>
                  <a:spcPct val="0"/>
                </a:spcBef>
              </a:pPr>
              <a:r>
                <a:rPr lang="en-US" b="true" sz="1851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69" id="69"/>
            <p:cNvSpPr/>
            <p:nvPr/>
          </p:nvSpPr>
          <p:spPr>
            <a:xfrm flipH="true">
              <a:off x="3941994" y="2069107"/>
              <a:ext cx="280825" cy="76710"/>
            </a:xfrm>
            <a:prstGeom prst="line">
              <a:avLst/>
            </a:prstGeom>
            <a:ln cap="flat" w="1882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0" id="70"/>
            <p:cNvSpPr txBox="true"/>
            <p:nvPr/>
          </p:nvSpPr>
          <p:spPr>
            <a:xfrm rot="0">
              <a:off x="4224025" y="1773514"/>
              <a:ext cx="231705" cy="412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4"/>
                </a:lnSpc>
                <a:spcBef>
                  <a:spcPct val="0"/>
                </a:spcBef>
              </a:pPr>
              <a:r>
                <a:rPr lang="en-US" b="true" sz="1853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71" id="71"/>
            <p:cNvSpPr/>
            <p:nvPr/>
          </p:nvSpPr>
          <p:spPr>
            <a:xfrm flipH="true" flipV="true">
              <a:off x="3933002" y="2945492"/>
              <a:ext cx="270259" cy="90169"/>
            </a:xfrm>
            <a:prstGeom prst="line">
              <a:avLst/>
            </a:prstGeom>
            <a:ln cap="flat" w="1882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2" id="72"/>
            <p:cNvSpPr txBox="true"/>
            <p:nvPr/>
          </p:nvSpPr>
          <p:spPr>
            <a:xfrm rot="0">
              <a:off x="4203261" y="2844351"/>
              <a:ext cx="231879" cy="412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6"/>
                </a:lnSpc>
                <a:spcBef>
                  <a:spcPct val="0"/>
                </a:spcBef>
              </a:pPr>
              <a:r>
                <a:rPr lang="en-US" b="true" sz="1854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73" id="73"/>
            <p:cNvSpPr/>
            <p:nvPr/>
          </p:nvSpPr>
          <p:spPr>
            <a:xfrm flipV="true">
              <a:off x="2086697" y="2974329"/>
              <a:ext cx="294940" cy="69397"/>
            </a:xfrm>
            <a:prstGeom prst="line">
              <a:avLst/>
            </a:prstGeom>
            <a:ln cap="flat" w="1882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4" id="74"/>
            <p:cNvSpPr txBox="true"/>
            <p:nvPr/>
          </p:nvSpPr>
          <p:spPr>
            <a:xfrm rot="0">
              <a:off x="1847294" y="2810097"/>
              <a:ext cx="232176" cy="413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3"/>
                </a:lnSpc>
                <a:spcBef>
                  <a:spcPct val="0"/>
                </a:spcBef>
              </a:pPr>
              <a:r>
                <a:rPr lang="en-US" b="true" sz="1852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TextBox 75" id="75"/>
            <p:cNvSpPr txBox="true"/>
            <p:nvPr/>
          </p:nvSpPr>
          <p:spPr>
            <a:xfrm rot="0">
              <a:off x="3709605" y="541129"/>
              <a:ext cx="212600" cy="4130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2"/>
                </a:lnSpc>
                <a:spcBef>
                  <a:spcPct val="0"/>
                </a:spcBef>
              </a:pPr>
              <a:r>
                <a:rPr lang="en-US" b="true" sz="1851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O</a:t>
              </a:r>
            </a:p>
          </p:txBody>
        </p:sp>
        <p:sp>
          <p:nvSpPr>
            <p:cNvPr name="TextBox 76" id="76"/>
            <p:cNvSpPr txBox="true"/>
            <p:nvPr/>
          </p:nvSpPr>
          <p:spPr>
            <a:xfrm rot="39163">
              <a:off x="3735789" y="640820"/>
              <a:ext cx="66034" cy="413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3"/>
                </a:lnSpc>
                <a:spcBef>
                  <a:spcPct val="0"/>
                </a:spcBef>
              </a:pPr>
              <a:r>
                <a:rPr lang="en-US" b="true" sz="1852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39163">
              <a:off x="3846057" y="642077"/>
              <a:ext cx="66034" cy="413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3"/>
                </a:lnSpc>
                <a:spcBef>
                  <a:spcPct val="0"/>
                </a:spcBef>
              </a:pPr>
              <a:r>
                <a:rPr lang="en-US" b="true" sz="1852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78" id="78"/>
            <p:cNvSpPr txBox="true"/>
            <p:nvPr/>
          </p:nvSpPr>
          <p:spPr>
            <a:xfrm rot="-5403245">
              <a:off x="3855730" y="615364"/>
              <a:ext cx="66034" cy="413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3"/>
                </a:lnSpc>
                <a:spcBef>
                  <a:spcPct val="0"/>
                </a:spcBef>
              </a:pPr>
              <a:r>
                <a:rPr lang="en-US" b="true" sz="1852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79" id="79"/>
            <p:cNvSpPr txBox="true"/>
            <p:nvPr/>
          </p:nvSpPr>
          <p:spPr>
            <a:xfrm rot="-5403245">
              <a:off x="3855626" y="505090"/>
              <a:ext cx="66034" cy="413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3"/>
                </a:lnSpc>
                <a:spcBef>
                  <a:spcPct val="0"/>
                </a:spcBef>
              </a:pPr>
              <a:r>
                <a:rPr lang="en-US" b="true" sz="1852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80" id="80"/>
            <p:cNvSpPr txBox="true"/>
            <p:nvPr/>
          </p:nvSpPr>
          <p:spPr>
            <a:xfrm rot="-10800000">
              <a:off x="2279662" y="574716"/>
              <a:ext cx="212600" cy="4130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2"/>
                </a:lnSpc>
                <a:spcBef>
                  <a:spcPct val="0"/>
                </a:spcBef>
              </a:pPr>
              <a:r>
                <a:rPr lang="en-US" b="true" sz="1851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O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-10760836">
              <a:off x="2400044" y="491091"/>
              <a:ext cx="66034" cy="413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3"/>
                </a:lnSpc>
                <a:spcBef>
                  <a:spcPct val="0"/>
                </a:spcBef>
              </a:pPr>
              <a:r>
                <a:rPr lang="en-US" b="true" sz="1852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82" id="82"/>
            <p:cNvSpPr txBox="true"/>
            <p:nvPr/>
          </p:nvSpPr>
          <p:spPr>
            <a:xfrm rot="-10760836">
              <a:off x="2289776" y="489835"/>
              <a:ext cx="66034" cy="413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3"/>
                </a:lnSpc>
                <a:spcBef>
                  <a:spcPct val="0"/>
                </a:spcBef>
              </a:pPr>
              <a:r>
                <a:rPr lang="en-US" b="true" sz="1852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83" id="83"/>
            <p:cNvSpPr txBox="true"/>
            <p:nvPr/>
          </p:nvSpPr>
          <p:spPr>
            <a:xfrm rot="5396754">
              <a:off x="2280103" y="500541"/>
              <a:ext cx="66034" cy="413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3"/>
                </a:lnSpc>
                <a:spcBef>
                  <a:spcPct val="0"/>
                </a:spcBef>
              </a:pPr>
              <a:r>
                <a:rPr lang="en-US" b="true" sz="1852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84" id="84"/>
            <p:cNvSpPr txBox="true"/>
            <p:nvPr/>
          </p:nvSpPr>
          <p:spPr>
            <a:xfrm rot="5396754">
              <a:off x="2280207" y="610816"/>
              <a:ext cx="66034" cy="413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3"/>
                </a:lnSpc>
                <a:spcBef>
                  <a:spcPct val="0"/>
                </a:spcBef>
              </a:pPr>
              <a:r>
                <a:rPr lang="en-US" b="true" sz="1852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AutoShape 85" id="85"/>
            <p:cNvSpPr/>
            <p:nvPr/>
          </p:nvSpPr>
          <p:spPr>
            <a:xfrm flipH="true" flipV="true">
              <a:off x="1963382" y="1956851"/>
              <a:ext cx="453940" cy="182378"/>
            </a:xfrm>
            <a:prstGeom prst="line">
              <a:avLst/>
            </a:prstGeom>
            <a:ln cap="flat" w="1882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6" id="86"/>
            <p:cNvSpPr txBox="true"/>
            <p:nvPr/>
          </p:nvSpPr>
          <p:spPr>
            <a:xfrm rot="-10800000">
              <a:off x="1719036" y="1782419"/>
              <a:ext cx="212600" cy="4130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2"/>
                </a:lnSpc>
                <a:spcBef>
                  <a:spcPct val="0"/>
                </a:spcBef>
              </a:pPr>
              <a:r>
                <a:rPr lang="en-US" b="true" sz="1851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O</a:t>
              </a:r>
            </a:p>
          </p:txBody>
        </p:sp>
        <p:sp>
          <p:nvSpPr>
            <p:cNvPr name="TextBox 87" id="87"/>
            <p:cNvSpPr txBox="true"/>
            <p:nvPr/>
          </p:nvSpPr>
          <p:spPr>
            <a:xfrm rot="-10760836">
              <a:off x="1839418" y="1698794"/>
              <a:ext cx="66034" cy="413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3"/>
                </a:lnSpc>
                <a:spcBef>
                  <a:spcPct val="0"/>
                </a:spcBef>
              </a:pPr>
              <a:r>
                <a:rPr lang="en-US" b="true" sz="1852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88" id="88"/>
            <p:cNvSpPr txBox="true"/>
            <p:nvPr/>
          </p:nvSpPr>
          <p:spPr>
            <a:xfrm rot="-10760836">
              <a:off x="1729150" y="1697538"/>
              <a:ext cx="66034" cy="413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3"/>
                </a:lnSpc>
                <a:spcBef>
                  <a:spcPct val="0"/>
                </a:spcBef>
              </a:pPr>
              <a:r>
                <a:rPr lang="en-US" b="true" sz="1852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89" id="89"/>
            <p:cNvSpPr txBox="true"/>
            <p:nvPr/>
          </p:nvSpPr>
          <p:spPr>
            <a:xfrm rot="-3245">
              <a:off x="1717482" y="1812958"/>
              <a:ext cx="66034" cy="413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3"/>
                </a:lnSpc>
                <a:spcBef>
                  <a:spcPct val="0"/>
                </a:spcBef>
              </a:pPr>
              <a:r>
                <a:rPr lang="en-US" b="true" sz="1852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90" id="90"/>
            <p:cNvSpPr txBox="true"/>
            <p:nvPr/>
          </p:nvSpPr>
          <p:spPr>
            <a:xfrm rot="-3245">
              <a:off x="1827757" y="1817613"/>
              <a:ext cx="66034" cy="413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3"/>
                </a:lnSpc>
                <a:spcBef>
                  <a:spcPct val="0"/>
                </a:spcBef>
              </a:pPr>
              <a:r>
                <a:rPr lang="en-US" b="true" sz="1852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AutoShape 91" id="91"/>
            <p:cNvSpPr/>
            <p:nvPr/>
          </p:nvSpPr>
          <p:spPr>
            <a:xfrm flipH="true">
              <a:off x="1206113" y="1956851"/>
              <a:ext cx="467995" cy="200557"/>
            </a:xfrm>
            <a:prstGeom prst="line">
              <a:avLst/>
            </a:prstGeom>
            <a:ln cap="flat" w="1882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2" id="92"/>
            <p:cNvSpPr txBox="true"/>
            <p:nvPr/>
          </p:nvSpPr>
          <p:spPr>
            <a:xfrm rot="0">
              <a:off x="968216" y="1916814"/>
              <a:ext cx="212600" cy="4130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2"/>
                </a:lnSpc>
                <a:spcBef>
                  <a:spcPct val="0"/>
                </a:spcBef>
              </a:pPr>
              <a:r>
                <a:rPr lang="en-US" b="true" sz="1851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93" id="93"/>
            <p:cNvSpPr/>
            <p:nvPr/>
          </p:nvSpPr>
          <p:spPr>
            <a:xfrm flipH="true">
              <a:off x="1028689" y="2306425"/>
              <a:ext cx="0" cy="441845"/>
            </a:xfrm>
            <a:prstGeom prst="line">
              <a:avLst/>
            </a:prstGeom>
            <a:ln cap="flat" w="1882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4" id="94"/>
            <p:cNvSpPr/>
            <p:nvPr/>
          </p:nvSpPr>
          <p:spPr>
            <a:xfrm flipH="true">
              <a:off x="1100443" y="2309038"/>
              <a:ext cx="0" cy="441845"/>
            </a:xfrm>
            <a:prstGeom prst="line">
              <a:avLst/>
            </a:prstGeom>
            <a:ln cap="flat" w="1882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5" id="95"/>
            <p:cNvSpPr/>
            <p:nvPr/>
          </p:nvSpPr>
          <p:spPr>
            <a:xfrm flipH="true" flipV="true">
              <a:off x="496649" y="1966296"/>
              <a:ext cx="453940" cy="182378"/>
            </a:xfrm>
            <a:prstGeom prst="line">
              <a:avLst/>
            </a:prstGeom>
            <a:ln cap="flat" w="1882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6" id="96"/>
            <p:cNvSpPr txBox="true"/>
            <p:nvPr/>
          </p:nvSpPr>
          <p:spPr>
            <a:xfrm rot="0">
              <a:off x="950589" y="2660699"/>
              <a:ext cx="212600" cy="4130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2"/>
                </a:lnSpc>
                <a:spcBef>
                  <a:spcPct val="0"/>
                </a:spcBef>
              </a:pPr>
              <a:r>
                <a:rPr lang="en-US" b="true" sz="1851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O</a:t>
              </a:r>
            </a:p>
          </p:txBody>
        </p:sp>
        <p:sp>
          <p:nvSpPr>
            <p:cNvPr name="TextBox 97" id="97"/>
            <p:cNvSpPr txBox="true"/>
            <p:nvPr/>
          </p:nvSpPr>
          <p:spPr>
            <a:xfrm rot="39163">
              <a:off x="976773" y="2744385"/>
              <a:ext cx="66034" cy="413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3"/>
                </a:lnSpc>
                <a:spcBef>
                  <a:spcPct val="0"/>
                </a:spcBef>
              </a:pPr>
              <a:r>
                <a:rPr lang="en-US" b="true" sz="1852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98" id="98"/>
            <p:cNvSpPr txBox="true"/>
            <p:nvPr/>
          </p:nvSpPr>
          <p:spPr>
            <a:xfrm rot="39163">
              <a:off x="1087040" y="2745641"/>
              <a:ext cx="66034" cy="413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3"/>
                </a:lnSpc>
                <a:spcBef>
                  <a:spcPct val="0"/>
                </a:spcBef>
              </a:pPr>
              <a:r>
                <a:rPr lang="en-US" b="true" sz="1852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99" id="99"/>
            <p:cNvSpPr txBox="true"/>
            <p:nvPr/>
          </p:nvSpPr>
          <p:spPr>
            <a:xfrm rot="-5403245">
              <a:off x="1096714" y="2734935"/>
              <a:ext cx="66034" cy="413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3"/>
                </a:lnSpc>
                <a:spcBef>
                  <a:spcPct val="0"/>
                </a:spcBef>
              </a:pPr>
              <a:r>
                <a:rPr lang="en-US" b="true" sz="1852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100" id="100"/>
            <p:cNvSpPr txBox="true"/>
            <p:nvPr/>
          </p:nvSpPr>
          <p:spPr>
            <a:xfrm rot="-5403245">
              <a:off x="1096610" y="2624660"/>
              <a:ext cx="66034" cy="413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3"/>
                </a:lnSpc>
                <a:spcBef>
                  <a:spcPct val="0"/>
                </a:spcBef>
              </a:pPr>
              <a:r>
                <a:rPr lang="en-US" b="true" sz="1852" spc="-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101" id="101"/>
            <p:cNvSpPr txBox="true"/>
            <p:nvPr/>
          </p:nvSpPr>
          <p:spPr>
            <a:xfrm rot="0">
              <a:off x="256820" y="1726101"/>
              <a:ext cx="203376" cy="3872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79"/>
                </a:lnSpc>
                <a:spcBef>
                  <a:spcPct val="0"/>
                </a:spcBef>
              </a:pPr>
              <a:r>
                <a:rPr lang="en-US" b="true" sz="1771" spc="-7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102" id="102"/>
            <p:cNvSpPr/>
            <p:nvPr/>
          </p:nvSpPr>
          <p:spPr>
            <a:xfrm>
              <a:off x="330064" y="1586454"/>
              <a:ext cx="25987" cy="218322"/>
            </a:xfrm>
            <a:prstGeom prst="line">
              <a:avLst/>
            </a:prstGeom>
            <a:ln cap="flat" w="1411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3" id="103"/>
            <p:cNvSpPr/>
            <p:nvPr/>
          </p:nvSpPr>
          <p:spPr>
            <a:xfrm flipV="true">
              <a:off x="115920" y="2008689"/>
              <a:ext cx="119527" cy="201353"/>
            </a:xfrm>
            <a:prstGeom prst="line">
              <a:avLst/>
            </a:prstGeom>
            <a:ln cap="flat" w="1411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04" id="104"/>
            <p:cNvSpPr txBox="true"/>
            <p:nvPr/>
          </p:nvSpPr>
          <p:spPr>
            <a:xfrm rot="0">
              <a:off x="0" y="2107218"/>
              <a:ext cx="202686" cy="3655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69"/>
                </a:lnSpc>
                <a:spcBef>
                  <a:spcPct val="0"/>
                </a:spcBef>
              </a:pPr>
              <a:r>
                <a:rPr lang="en-US" b="true" sz="1621" spc="-6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TextBox 105" id="105"/>
            <p:cNvSpPr txBox="true"/>
            <p:nvPr/>
          </p:nvSpPr>
          <p:spPr>
            <a:xfrm rot="0">
              <a:off x="221986" y="1277177"/>
              <a:ext cx="202686" cy="3655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69"/>
                </a:lnSpc>
                <a:spcBef>
                  <a:spcPct val="0"/>
                </a:spcBef>
              </a:pPr>
              <a:r>
                <a:rPr lang="en-US" b="true" sz="1621" spc="-6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106" id="106"/>
            <p:cNvSpPr/>
            <p:nvPr/>
          </p:nvSpPr>
          <p:spPr>
            <a:xfrm flipH="true" flipV="true">
              <a:off x="417088" y="2069271"/>
              <a:ext cx="14319" cy="212616"/>
            </a:xfrm>
            <a:prstGeom prst="line">
              <a:avLst/>
            </a:prstGeom>
            <a:ln cap="flat" w="1411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07" id="107"/>
            <p:cNvSpPr txBox="true"/>
            <p:nvPr/>
          </p:nvSpPr>
          <p:spPr>
            <a:xfrm rot="0">
              <a:off x="330064" y="2171942"/>
              <a:ext cx="202686" cy="3655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69"/>
                </a:lnSpc>
                <a:spcBef>
                  <a:spcPct val="0"/>
                </a:spcBef>
              </a:pPr>
              <a:r>
                <a:rPr lang="en-US" b="true" sz="1621" spc="-6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566000" y="156600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7560000"/>
                </a:moveTo>
                <a:lnTo>
                  <a:pt x="0" y="0"/>
                </a:ln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close/>
              </a:path>
            </a:pathLst>
          </a:custGeom>
          <a:blipFill>
            <a:blip r:embed="rId2"/>
            <a:stretch>
              <a:fillRect l="-3063" t="0" r="-306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498" y="9052605"/>
            <a:ext cx="7255003" cy="1226340"/>
            <a:chOff x="0" y="0"/>
            <a:chExt cx="9128989" cy="15431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28989" cy="1543107"/>
            </a:xfrm>
            <a:custGeom>
              <a:avLst/>
              <a:gdLst/>
              <a:ahLst/>
              <a:cxnLst/>
              <a:rect r="r" b="b" t="t" l="l"/>
              <a:pathLst>
                <a:path h="1543107" w="9128989">
                  <a:moveTo>
                    <a:pt x="26468" y="0"/>
                  </a:moveTo>
                  <a:lnTo>
                    <a:pt x="9102521" y="0"/>
                  </a:lnTo>
                  <a:cubicBezTo>
                    <a:pt x="9109541" y="0"/>
                    <a:pt x="9116273" y="2789"/>
                    <a:pt x="9121237" y="7752"/>
                  </a:cubicBezTo>
                  <a:cubicBezTo>
                    <a:pt x="9126201" y="12716"/>
                    <a:pt x="9128989" y="19448"/>
                    <a:pt x="9128989" y="26468"/>
                  </a:cubicBezTo>
                  <a:lnTo>
                    <a:pt x="9128989" y="1516639"/>
                  </a:lnTo>
                  <a:cubicBezTo>
                    <a:pt x="9128989" y="1523658"/>
                    <a:pt x="9126201" y="1530391"/>
                    <a:pt x="9121237" y="1535354"/>
                  </a:cubicBezTo>
                  <a:cubicBezTo>
                    <a:pt x="9116273" y="1540318"/>
                    <a:pt x="9109541" y="1543107"/>
                    <a:pt x="9102521" y="1543107"/>
                  </a:cubicBezTo>
                  <a:lnTo>
                    <a:pt x="26468" y="1543107"/>
                  </a:lnTo>
                  <a:cubicBezTo>
                    <a:pt x="11850" y="1543107"/>
                    <a:pt x="0" y="1531257"/>
                    <a:pt x="0" y="1516639"/>
                  </a:cubicBezTo>
                  <a:lnTo>
                    <a:pt x="0" y="26468"/>
                  </a:lnTo>
                  <a:cubicBezTo>
                    <a:pt x="0" y="11850"/>
                    <a:pt x="11850" y="0"/>
                    <a:pt x="2646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9128989" cy="1562157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6499" y="1234171"/>
            <a:ext cx="3594051" cy="3745667"/>
            <a:chOff x="0" y="0"/>
            <a:chExt cx="4676784" cy="4874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76784" cy="4874075"/>
            </a:xfrm>
            <a:custGeom>
              <a:avLst/>
              <a:gdLst/>
              <a:ahLst/>
              <a:cxnLst/>
              <a:rect r="r" b="b" t="t" l="l"/>
              <a:pathLst>
                <a:path h="4874075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820647"/>
                  </a:lnTo>
                  <a:cubicBezTo>
                    <a:pt x="4676784" y="4850154"/>
                    <a:pt x="4652863" y="4874075"/>
                    <a:pt x="4623356" y="4874075"/>
                  </a:cubicBezTo>
                  <a:lnTo>
                    <a:pt x="53428" y="4874075"/>
                  </a:lnTo>
                  <a:cubicBezTo>
                    <a:pt x="23921" y="4874075"/>
                    <a:pt x="0" y="4850154"/>
                    <a:pt x="0" y="4820647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4676784" cy="4893125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16499" y="1746298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3856436" y="1260876"/>
            <a:ext cx="3594051" cy="3745667"/>
            <a:chOff x="0" y="0"/>
            <a:chExt cx="4676784" cy="48740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76784" cy="4874075"/>
            </a:xfrm>
            <a:custGeom>
              <a:avLst/>
              <a:gdLst/>
              <a:ahLst/>
              <a:cxnLst/>
              <a:rect r="r" b="b" t="t" l="l"/>
              <a:pathLst>
                <a:path h="4874075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820647"/>
                  </a:lnTo>
                  <a:cubicBezTo>
                    <a:pt x="4676784" y="4850154"/>
                    <a:pt x="4652863" y="4874075"/>
                    <a:pt x="4623356" y="4874075"/>
                  </a:cubicBezTo>
                  <a:lnTo>
                    <a:pt x="53428" y="4874075"/>
                  </a:lnTo>
                  <a:cubicBezTo>
                    <a:pt x="23921" y="4874075"/>
                    <a:pt x="0" y="4850154"/>
                    <a:pt x="0" y="4820647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676784" cy="4921700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3856436" y="1750903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16499" y="5215287"/>
            <a:ext cx="3594051" cy="3627768"/>
            <a:chOff x="0" y="0"/>
            <a:chExt cx="4676784" cy="47206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76784" cy="4720658"/>
            </a:xfrm>
            <a:custGeom>
              <a:avLst/>
              <a:gdLst/>
              <a:ahLst/>
              <a:cxnLst/>
              <a:rect r="r" b="b" t="t" l="l"/>
              <a:pathLst>
                <a:path h="4720658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667230"/>
                  </a:lnTo>
                  <a:cubicBezTo>
                    <a:pt x="4676784" y="4696738"/>
                    <a:pt x="4652863" y="4720658"/>
                    <a:pt x="4623356" y="4720658"/>
                  </a:cubicBezTo>
                  <a:lnTo>
                    <a:pt x="53428" y="4720658"/>
                  </a:lnTo>
                  <a:cubicBezTo>
                    <a:pt x="23921" y="4720658"/>
                    <a:pt x="0" y="4696738"/>
                    <a:pt x="0" y="4667230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4676784" cy="4739709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10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116499" y="5682150"/>
            <a:ext cx="3594051" cy="23164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3856436" y="5187517"/>
            <a:ext cx="3594051" cy="3627768"/>
            <a:chOff x="0" y="0"/>
            <a:chExt cx="4676784" cy="47206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76784" cy="4720658"/>
            </a:xfrm>
            <a:custGeom>
              <a:avLst/>
              <a:gdLst/>
              <a:ahLst/>
              <a:cxnLst/>
              <a:rect r="r" b="b" t="t" l="l"/>
              <a:pathLst>
                <a:path h="4720658" w="4676784">
                  <a:moveTo>
                    <a:pt x="53428" y="0"/>
                  </a:moveTo>
                  <a:lnTo>
                    <a:pt x="4623356" y="0"/>
                  </a:lnTo>
                  <a:cubicBezTo>
                    <a:pt x="4652863" y="0"/>
                    <a:pt x="4676784" y="23921"/>
                    <a:pt x="4676784" y="53428"/>
                  </a:cubicBezTo>
                  <a:lnTo>
                    <a:pt x="4676784" y="4667230"/>
                  </a:lnTo>
                  <a:cubicBezTo>
                    <a:pt x="4676784" y="4696738"/>
                    <a:pt x="4652863" y="4720658"/>
                    <a:pt x="4623356" y="4720658"/>
                  </a:cubicBezTo>
                  <a:lnTo>
                    <a:pt x="53428" y="4720658"/>
                  </a:lnTo>
                  <a:cubicBezTo>
                    <a:pt x="23921" y="4720658"/>
                    <a:pt x="0" y="4696738"/>
                    <a:pt x="0" y="4667230"/>
                  </a:cubicBezTo>
                  <a:lnTo>
                    <a:pt x="0" y="53428"/>
                  </a:lnTo>
                  <a:cubicBezTo>
                    <a:pt x="0" y="23921"/>
                    <a:pt x="23921" y="0"/>
                    <a:pt x="53428" y="0"/>
                  </a:cubicBezTo>
                  <a:close/>
                </a:path>
              </a:pathLst>
            </a:custGeom>
            <a:solidFill>
              <a:srgbClr val="FFFFFB">
                <a:alpha val="67843"/>
              </a:srgbClr>
            </a:solidFill>
            <a:ln w="7875" cap="rnd">
              <a:solidFill>
                <a:srgbClr val="2B2B2B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676784" cy="4768284"/>
            </a:xfrm>
            <a:prstGeom prst="rect">
              <a:avLst/>
            </a:prstGeom>
          </p:spPr>
          <p:txBody>
            <a:bodyPr anchor="ctr" rtlCol="false" tIns="21000" lIns="21000" bIns="21000" rIns="21000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3856436" y="5677545"/>
            <a:ext cx="3594051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375999" y="9552871"/>
            <a:ext cx="204424" cy="204424"/>
          </a:xfrm>
          <a:custGeom>
            <a:avLst/>
            <a:gdLst/>
            <a:ahLst/>
            <a:cxnLst/>
            <a:rect r="r" b="b" t="t" l="l"/>
            <a:pathLst>
              <a:path h="204424" w="204424">
                <a:moveTo>
                  <a:pt x="0" y="0"/>
                </a:moveTo>
                <a:lnTo>
                  <a:pt x="204424" y="0"/>
                </a:lnTo>
                <a:lnTo>
                  <a:pt x="204424" y="204424"/>
                </a:lnTo>
                <a:lnTo>
                  <a:pt x="0" y="204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128796" y="9552871"/>
            <a:ext cx="205596" cy="205596"/>
          </a:xfrm>
          <a:custGeom>
            <a:avLst/>
            <a:gdLst/>
            <a:ahLst/>
            <a:cxnLst/>
            <a:rect r="r" b="b" t="t" l="l"/>
            <a:pathLst>
              <a:path h="205596" w="205596">
                <a:moveTo>
                  <a:pt x="0" y="0"/>
                </a:moveTo>
                <a:lnTo>
                  <a:pt x="205596" y="0"/>
                </a:lnTo>
                <a:lnTo>
                  <a:pt x="205596" y="205596"/>
                </a:lnTo>
                <a:lnTo>
                  <a:pt x="0" y="205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75999" y="9902595"/>
            <a:ext cx="204747" cy="204747"/>
          </a:xfrm>
          <a:custGeom>
            <a:avLst/>
            <a:gdLst/>
            <a:ahLst/>
            <a:cxnLst/>
            <a:rect r="r" b="b" t="t" l="l"/>
            <a:pathLst>
              <a:path h="204747" w="204747">
                <a:moveTo>
                  <a:pt x="0" y="0"/>
                </a:moveTo>
                <a:lnTo>
                  <a:pt x="204747" y="0"/>
                </a:lnTo>
                <a:lnTo>
                  <a:pt x="204747" y="204748"/>
                </a:lnTo>
                <a:lnTo>
                  <a:pt x="0" y="2047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128796" y="9914266"/>
            <a:ext cx="204797" cy="204797"/>
          </a:xfrm>
          <a:custGeom>
            <a:avLst/>
            <a:gdLst/>
            <a:ahLst/>
            <a:cxnLst/>
            <a:rect r="r" b="b" t="t" l="l"/>
            <a:pathLst>
              <a:path h="204797" w="204797">
                <a:moveTo>
                  <a:pt x="0" y="0"/>
                </a:moveTo>
                <a:lnTo>
                  <a:pt x="204797" y="0"/>
                </a:lnTo>
                <a:lnTo>
                  <a:pt x="204797" y="204796"/>
                </a:lnTo>
                <a:lnTo>
                  <a:pt x="0" y="204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061482" y="5622322"/>
            <a:ext cx="3268301" cy="3254510"/>
          </a:xfrm>
          <a:custGeom>
            <a:avLst/>
            <a:gdLst/>
            <a:ahLst/>
            <a:cxnLst/>
            <a:rect r="r" b="b" t="t" l="l"/>
            <a:pathLst>
              <a:path h="3254510" w="3268301">
                <a:moveTo>
                  <a:pt x="0" y="0"/>
                </a:moveTo>
                <a:lnTo>
                  <a:pt x="3268301" y="0"/>
                </a:lnTo>
                <a:lnTo>
                  <a:pt x="3268301" y="3254510"/>
                </a:lnTo>
                <a:lnTo>
                  <a:pt x="0" y="32545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615738" y="9571809"/>
            <a:ext cx="1598251" cy="183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7"/>
              </a:lnSpc>
              <a:spcBef>
                <a:spcPct val="0"/>
              </a:spcBef>
            </a:pPr>
            <a:r>
              <a:rPr lang="en-US" sz="1296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atom count verified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3290" y="129882"/>
            <a:ext cx="2617705" cy="60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  <a:spcBef>
                <a:spcPct val="0"/>
              </a:spcBef>
            </a:pPr>
            <a:r>
              <a:rPr lang="en-US" b="true" sz="3459" spc="-138">
                <a:solidFill>
                  <a:srgbClr val="000001"/>
                </a:solidFill>
                <a:latin typeface="Aileron Bold"/>
                <a:ea typeface="Aileron Bold"/>
                <a:cs typeface="Aileron Bold"/>
                <a:sym typeface="Aileron Bold"/>
              </a:rPr>
              <a:t>CARD 10 ―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200492" y="85551"/>
            <a:ext cx="2808220" cy="63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5"/>
              </a:lnSpc>
              <a:spcBef>
                <a:spcPct val="0"/>
              </a:spcBef>
            </a:pPr>
            <a:r>
              <a:rPr lang="en-US" sz="3753" spc="-150">
                <a:solidFill>
                  <a:srgbClr val="BD1B1B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CAFFEINE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15030" y="826755"/>
            <a:ext cx="4129940" cy="22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2"/>
              </a:lnSpc>
              <a:spcBef>
                <a:spcPct val="0"/>
              </a:spcBef>
            </a:pPr>
            <a:r>
              <a:rPr lang="en-US" b="true" sz="1600" spc="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“THE FUSED-RING FINALE”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362946" y="240067"/>
            <a:ext cx="1426636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-92">
                <a:solidFill>
                  <a:srgbClr val="BD1B1B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(C₈H₁₀N₄O₂)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21545" y="1291744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1. MOLECULAR FORMULA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48849" y="2674985"/>
            <a:ext cx="2656568" cy="71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1"/>
              </a:lnSpc>
              <a:spcBef>
                <a:spcPct val="0"/>
              </a:spcBef>
            </a:pPr>
            <a:r>
              <a:rPr lang="en-US" b="true" sz="4158" spc="-16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C₈H₁₀N₄O₂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38378" y="3523935"/>
            <a:ext cx="2623076" cy="21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  <a:spcBef>
                <a:spcPct val="0"/>
              </a:spcBef>
            </a:pPr>
            <a:r>
              <a:rPr lang="en-US" b="true" sz="1257" spc="-50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8 C + 10 H </a:t>
            </a:r>
            <a:r>
              <a:rPr lang="en-US" b="true" sz="1257" spc="-50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+ 4 N + 2 O = 24 atoms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061482" y="1291744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2</a:t>
            </a: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LEWIS STRUCTURE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6499" y="5307555"/>
            <a:ext cx="3572331" cy="25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0"/>
              </a:lnSpc>
              <a:spcBef>
                <a:spcPct val="0"/>
              </a:spcBef>
            </a:pPr>
            <a:r>
              <a:rPr lang="en-US" b="true" sz="1450" i="true" spc="-5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3</a:t>
            </a:r>
            <a:r>
              <a:rPr lang="en-US" b="true" sz="1450" i="true" spc="-5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CONDENSED STRUCTURAL FORMULA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2498" y="6605145"/>
            <a:ext cx="3536332" cy="292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7"/>
              </a:lnSpc>
              <a:spcBef>
                <a:spcPct val="0"/>
              </a:spcBef>
            </a:pPr>
            <a:r>
              <a:rPr lang="en-US" b="true" sz="1683" spc="-6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1,3,7-TRIMETHYLPURINE-2,6-DIONE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061482" y="5217890"/>
            <a:ext cx="3183958" cy="36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4</a:t>
            </a:r>
            <a:r>
              <a:rPr lang="en-US" b="true" sz="2030" i="true" spc="-81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. BOND-LINE FORMULA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205153" y="9128805"/>
            <a:ext cx="3149694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 i="true" spc="-68">
                <a:solidFill>
                  <a:srgbClr val="700C0C"/>
                </a:solidFill>
                <a:latin typeface="Tex Gyre Termes Bold Italics"/>
                <a:ea typeface="Tex Gyre Termes Bold Italics"/>
                <a:cs typeface="Tex Gyre Termes Bold Italics"/>
                <a:sym typeface="Tex Gyre Termes Bold Italics"/>
              </a:rPr>
              <a:t>VERIFICATION STRIP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377585" y="9571863"/>
            <a:ext cx="1331920" cy="184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  <a:spcBef>
                <a:spcPct val="0"/>
              </a:spcBef>
            </a:pPr>
            <a:r>
              <a:rPr lang="en-US" sz="1303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v</a:t>
            </a:r>
            <a:r>
              <a:rPr lang="en-US" sz="1303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alence checked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26893" y="9921548"/>
            <a:ext cx="1600778" cy="183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9"/>
              </a:lnSpc>
              <a:spcBef>
                <a:spcPct val="0"/>
              </a:spcBef>
            </a:pPr>
            <a:r>
              <a:rPr lang="en-US" sz="1298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bo</a:t>
            </a:r>
            <a:r>
              <a:rPr lang="en-US" sz="1298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nd order checked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376579" y="9933220"/>
            <a:ext cx="2246837" cy="18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9"/>
              </a:lnSpc>
              <a:spcBef>
                <a:spcPct val="0"/>
              </a:spcBef>
            </a:pPr>
            <a:r>
              <a:rPr lang="en-US" sz="1298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same co</a:t>
            </a:r>
            <a:r>
              <a:rPr lang="en-US" sz="1298" spc="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nnectivity confirmed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50604" y="10355145"/>
            <a:ext cx="5258792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 i="true" spc="-48">
                <a:solidFill>
                  <a:srgbClr val="700C0C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ChE Connection: Food and Beverage Processing, Extraction, and Quality Control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39622" y="7513302"/>
            <a:ext cx="3326084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b="true" sz="999" spc="-39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Caffeine does not have a</a:t>
            </a:r>
            <a:r>
              <a:rPr lang="en-US" b="true" sz="999" spc="-39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 simple, universally used condensed structural formula comparable to CH₃CH₂OH.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16484" y="7180816"/>
            <a:ext cx="3372361" cy="19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4"/>
              </a:lnSpc>
              <a:spcBef>
                <a:spcPct val="0"/>
              </a:spcBef>
            </a:pPr>
            <a:r>
              <a:rPr lang="en-US" b="true" sz="1160" spc="-46">
                <a:solidFill>
                  <a:srgbClr val="4B3232">
                    <a:alpha val="7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CH₃N1(CO)N3(CH₃)C4=C5(N7(CH₃)C6=N9)CO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4054793" y="1825039"/>
            <a:ext cx="3274990" cy="3086253"/>
            <a:chOff x="0" y="0"/>
            <a:chExt cx="4366654" cy="4115004"/>
          </a:xfrm>
        </p:grpSpPr>
        <p:sp>
          <p:nvSpPr>
            <p:cNvPr name="TextBox 47" id="47"/>
            <p:cNvSpPr txBox="true"/>
            <p:nvPr/>
          </p:nvSpPr>
          <p:spPr>
            <a:xfrm rot="0">
              <a:off x="1731844" y="767330"/>
              <a:ext cx="218528" cy="4235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4"/>
                </a:lnSpc>
                <a:spcBef>
                  <a:spcPct val="0"/>
                </a:spcBef>
              </a:pPr>
              <a:r>
                <a:rPr lang="en-US" b="true" sz="1903" spc="-7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48" id="48"/>
            <p:cNvSpPr/>
            <p:nvPr/>
          </p:nvSpPr>
          <p:spPr>
            <a:xfrm flipH="true">
              <a:off x="1324222" y="1067023"/>
              <a:ext cx="378941" cy="322773"/>
            </a:xfrm>
            <a:prstGeom prst="line">
              <a:avLst/>
            </a:prstGeom>
            <a:ln cap="flat" w="193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9" id="49"/>
            <p:cNvSpPr txBox="true"/>
            <p:nvPr/>
          </p:nvSpPr>
          <p:spPr>
            <a:xfrm rot="0">
              <a:off x="1128562" y="1294932"/>
              <a:ext cx="218528" cy="4235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4"/>
                </a:lnSpc>
                <a:spcBef>
                  <a:spcPct val="0"/>
                </a:spcBef>
              </a:pPr>
              <a:r>
                <a:rPr lang="en-US" b="true" sz="1903" spc="-7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N</a:t>
              </a:r>
            </a:p>
          </p:txBody>
        </p:sp>
        <p:sp>
          <p:nvSpPr>
            <p:cNvPr name="AutoShape 50" id="50"/>
            <p:cNvSpPr/>
            <p:nvPr/>
          </p:nvSpPr>
          <p:spPr>
            <a:xfrm flipH="true">
              <a:off x="1209926" y="1694345"/>
              <a:ext cx="0" cy="454164"/>
            </a:xfrm>
            <a:prstGeom prst="line">
              <a:avLst/>
            </a:prstGeom>
            <a:ln cap="flat" w="193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1" id="51"/>
            <p:cNvSpPr txBox="true"/>
            <p:nvPr/>
          </p:nvSpPr>
          <p:spPr>
            <a:xfrm rot="0">
              <a:off x="1115174" y="2058287"/>
              <a:ext cx="218528" cy="4235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4"/>
                </a:lnSpc>
                <a:spcBef>
                  <a:spcPct val="0"/>
                </a:spcBef>
              </a:pPr>
              <a:r>
                <a:rPr lang="en-US" b="true" sz="1903" spc="-7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52" id="52"/>
            <p:cNvSpPr/>
            <p:nvPr/>
          </p:nvSpPr>
          <p:spPr>
            <a:xfrm flipH="true" flipV="true">
              <a:off x="1296704" y="2459260"/>
              <a:ext cx="422520" cy="263163"/>
            </a:xfrm>
            <a:prstGeom prst="line">
              <a:avLst/>
            </a:prstGeom>
            <a:ln cap="flat" w="193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3" id="53"/>
            <p:cNvSpPr txBox="true"/>
            <p:nvPr/>
          </p:nvSpPr>
          <p:spPr>
            <a:xfrm rot="0">
              <a:off x="1731844" y="2491602"/>
              <a:ext cx="218528" cy="4235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4"/>
                </a:lnSpc>
                <a:spcBef>
                  <a:spcPct val="0"/>
                </a:spcBef>
              </a:pPr>
              <a:r>
                <a:rPr lang="en-US" b="true" sz="1903" spc="-7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N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2437696" y="1251840"/>
              <a:ext cx="218528" cy="4235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4"/>
                </a:lnSpc>
                <a:spcBef>
                  <a:spcPct val="0"/>
                </a:spcBef>
              </a:pPr>
              <a:r>
                <a:rPr lang="en-US" b="true" sz="1903" spc="-7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2437696" y="2058287"/>
              <a:ext cx="218528" cy="4235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4"/>
                </a:lnSpc>
                <a:spcBef>
                  <a:spcPct val="0"/>
                </a:spcBef>
              </a:pPr>
              <a:r>
                <a:rPr lang="en-US" b="true" sz="1903" spc="-7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56" id="56"/>
            <p:cNvSpPr/>
            <p:nvPr/>
          </p:nvSpPr>
          <p:spPr>
            <a:xfrm flipH="true">
              <a:off x="2021267" y="2436202"/>
              <a:ext cx="405994" cy="288005"/>
            </a:xfrm>
            <a:prstGeom prst="line">
              <a:avLst/>
            </a:prstGeom>
            <a:ln cap="flat" w="193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7" id="57"/>
            <p:cNvSpPr/>
            <p:nvPr/>
          </p:nvSpPr>
          <p:spPr>
            <a:xfrm flipH="true">
              <a:off x="2516258" y="1666098"/>
              <a:ext cx="0" cy="454164"/>
            </a:xfrm>
            <a:prstGeom prst="line">
              <a:avLst/>
            </a:prstGeom>
            <a:ln cap="flat" w="193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8" id="58"/>
            <p:cNvSpPr/>
            <p:nvPr/>
          </p:nvSpPr>
          <p:spPr>
            <a:xfrm flipH="true" flipV="true">
              <a:off x="1996794" y="1042980"/>
              <a:ext cx="457719" cy="295787"/>
            </a:xfrm>
            <a:prstGeom prst="line">
              <a:avLst/>
            </a:prstGeom>
            <a:ln cap="flat" w="193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9" id="59"/>
            <p:cNvSpPr/>
            <p:nvPr/>
          </p:nvSpPr>
          <p:spPr>
            <a:xfrm flipH="true">
              <a:off x="2598175" y="1666098"/>
              <a:ext cx="0" cy="454164"/>
            </a:xfrm>
            <a:prstGeom prst="line">
              <a:avLst/>
            </a:prstGeom>
            <a:ln cap="flat" w="193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0" id="60"/>
            <p:cNvSpPr/>
            <p:nvPr/>
          </p:nvSpPr>
          <p:spPr>
            <a:xfrm flipH="true">
              <a:off x="2703038" y="1341245"/>
              <a:ext cx="364163" cy="131576"/>
            </a:xfrm>
            <a:prstGeom prst="line">
              <a:avLst/>
            </a:prstGeom>
            <a:ln cap="flat" w="193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1" id="61"/>
            <p:cNvSpPr txBox="true"/>
            <p:nvPr/>
          </p:nvSpPr>
          <p:spPr>
            <a:xfrm rot="287370">
              <a:off x="3107139" y="1110491"/>
              <a:ext cx="218528" cy="4235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4"/>
                </a:lnSpc>
                <a:spcBef>
                  <a:spcPct val="0"/>
                </a:spcBef>
              </a:pPr>
              <a:r>
                <a:rPr lang="en-US" b="true" sz="1903" spc="-7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N</a:t>
              </a:r>
            </a:p>
          </p:txBody>
        </p:sp>
        <p:sp>
          <p:nvSpPr>
            <p:cNvPr name="AutoShape 62" id="62"/>
            <p:cNvSpPr/>
            <p:nvPr/>
          </p:nvSpPr>
          <p:spPr>
            <a:xfrm flipH="true" flipV="true">
              <a:off x="3370211" y="1397328"/>
              <a:ext cx="318953" cy="259095"/>
            </a:xfrm>
            <a:prstGeom prst="line">
              <a:avLst/>
            </a:prstGeom>
            <a:ln cap="flat" w="193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3" id="63"/>
            <p:cNvSpPr txBox="true"/>
            <p:nvPr/>
          </p:nvSpPr>
          <p:spPr>
            <a:xfrm rot="0">
              <a:off x="3644605" y="1582723"/>
              <a:ext cx="218528" cy="4235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4"/>
                </a:lnSpc>
                <a:spcBef>
                  <a:spcPct val="0"/>
                </a:spcBef>
              </a:pPr>
              <a:r>
                <a:rPr lang="en-US" b="true" sz="1903" spc="-7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64" id="64"/>
            <p:cNvSpPr/>
            <p:nvPr/>
          </p:nvSpPr>
          <p:spPr>
            <a:xfrm flipH="true">
              <a:off x="3456126" y="1957593"/>
              <a:ext cx="233038" cy="389819"/>
            </a:xfrm>
            <a:prstGeom prst="line">
              <a:avLst/>
            </a:prstGeom>
            <a:ln cap="flat" w="193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5" id="65"/>
            <p:cNvSpPr/>
            <p:nvPr/>
          </p:nvSpPr>
          <p:spPr>
            <a:xfrm flipH="true">
              <a:off x="3525668" y="2001430"/>
              <a:ext cx="233038" cy="389819"/>
            </a:xfrm>
            <a:prstGeom prst="line">
              <a:avLst/>
            </a:prstGeom>
            <a:ln cap="flat" w="193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6" id="66"/>
            <p:cNvSpPr txBox="true"/>
            <p:nvPr/>
          </p:nvSpPr>
          <p:spPr>
            <a:xfrm rot="73443">
              <a:off x="3177781" y="2162725"/>
              <a:ext cx="218528" cy="4235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4"/>
                </a:lnSpc>
                <a:spcBef>
                  <a:spcPct val="0"/>
                </a:spcBef>
              </a:pPr>
              <a:r>
                <a:rPr lang="en-US" b="true" sz="1903" spc="-7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N</a:t>
              </a:r>
            </a:p>
          </p:txBody>
        </p:sp>
        <p:sp>
          <p:nvSpPr>
            <p:cNvPr name="AutoShape 67" id="67"/>
            <p:cNvSpPr/>
            <p:nvPr/>
          </p:nvSpPr>
          <p:spPr>
            <a:xfrm flipH="true" flipV="true">
              <a:off x="2695429" y="2297321"/>
              <a:ext cx="452263" cy="98892"/>
            </a:xfrm>
            <a:prstGeom prst="line">
              <a:avLst/>
            </a:prstGeom>
            <a:ln cap="flat" w="193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8" id="68"/>
            <p:cNvSpPr/>
            <p:nvPr/>
          </p:nvSpPr>
          <p:spPr>
            <a:xfrm flipH="true">
              <a:off x="3239000" y="767696"/>
              <a:ext cx="47638" cy="433351"/>
            </a:xfrm>
            <a:prstGeom prst="line">
              <a:avLst/>
            </a:prstGeom>
            <a:ln cap="flat" w="193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9" id="69"/>
            <p:cNvSpPr txBox="true"/>
            <p:nvPr/>
          </p:nvSpPr>
          <p:spPr>
            <a:xfrm rot="0">
              <a:off x="3177374" y="363502"/>
              <a:ext cx="218528" cy="4235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4"/>
                </a:lnSpc>
                <a:spcBef>
                  <a:spcPct val="0"/>
                </a:spcBef>
              </a:pPr>
              <a:r>
                <a:rPr lang="en-US" b="true" sz="1903" spc="-7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70" id="70"/>
            <p:cNvSpPr/>
            <p:nvPr/>
          </p:nvSpPr>
          <p:spPr>
            <a:xfrm flipH="true">
              <a:off x="1804987" y="391428"/>
              <a:ext cx="0" cy="454164"/>
            </a:xfrm>
            <a:prstGeom prst="line">
              <a:avLst/>
            </a:prstGeom>
            <a:ln cap="flat" w="193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1" id="71"/>
            <p:cNvSpPr/>
            <p:nvPr/>
          </p:nvSpPr>
          <p:spPr>
            <a:xfrm flipH="true">
              <a:off x="1886904" y="391428"/>
              <a:ext cx="0" cy="454164"/>
            </a:xfrm>
            <a:prstGeom prst="line">
              <a:avLst/>
            </a:prstGeom>
            <a:ln cap="flat" w="193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2" id="72"/>
            <p:cNvSpPr txBox="true"/>
            <p:nvPr/>
          </p:nvSpPr>
          <p:spPr>
            <a:xfrm rot="-10800000">
              <a:off x="1746356" y="35508"/>
              <a:ext cx="218528" cy="4235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4"/>
                </a:lnSpc>
                <a:spcBef>
                  <a:spcPct val="0"/>
                </a:spcBef>
              </a:pPr>
              <a:r>
                <a:rPr lang="en-US" b="true" sz="1903" spc="-7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O</a:t>
              </a:r>
            </a:p>
          </p:txBody>
        </p:sp>
        <p:sp>
          <p:nvSpPr>
            <p:cNvPr name="TextBox 73" id="73"/>
            <p:cNvSpPr txBox="true"/>
            <p:nvPr/>
          </p:nvSpPr>
          <p:spPr>
            <a:xfrm rot="-7485369">
              <a:off x="1933093" y="29979"/>
              <a:ext cx="67875" cy="423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6"/>
                </a:lnSpc>
                <a:spcBef>
                  <a:spcPct val="0"/>
                </a:spcBef>
              </a:pPr>
              <a:r>
                <a:rPr lang="en-US" b="true" sz="1904" spc="-7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74" id="74"/>
            <p:cNvSpPr txBox="true"/>
            <p:nvPr/>
          </p:nvSpPr>
          <p:spPr>
            <a:xfrm rot="-7485369">
              <a:off x="1868474" y="-63148"/>
              <a:ext cx="67875" cy="423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6"/>
                </a:lnSpc>
                <a:spcBef>
                  <a:spcPct val="0"/>
                </a:spcBef>
              </a:pPr>
              <a:r>
                <a:rPr lang="en-US" b="true" sz="1904" spc="-7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75" id="75"/>
            <p:cNvSpPr txBox="true"/>
            <p:nvPr/>
          </p:nvSpPr>
          <p:spPr>
            <a:xfrm rot="6348918">
              <a:off x="1754630" y="-99232"/>
              <a:ext cx="67875" cy="423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6"/>
                </a:lnSpc>
                <a:spcBef>
                  <a:spcPct val="0"/>
                </a:spcBef>
              </a:pPr>
              <a:r>
                <a:rPr lang="en-US" b="true" sz="1904" spc="-7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76" id="76"/>
            <p:cNvSpPr txBox="true"/>
            <p:nvPr/>
          </p:nvSpPr>
          <p:spPr>
            <a:xfrm rot="6348918">
              <a:off x="1723738" y="9827"/>
              <a:ext cx="67875" cy="423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6"/>
                </a:lnSpc>
                <a:spcBef>
                  <a:spcPct val="0"/>
                </a:spcBef>
              </a:pPr>
              <a:r>
                <a:rPr lang="en-US" b="true" sz="1904" spc="-7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AutoShape 77" id="77"/>
            <p:cNvSpPr/>
            <p:nvPr/>
          </p:nvSpPr>
          <p:spPr>
            <a:xfrm flipH="true" flipV="true">
              <a:off x="788265" y="1482662"/>
              <a:ext cx="334197" cy="52246"/>
            </a:xfrm>
            <a:prstGeom prst="line">
              <a:avLst/>
            </a:prstGeom>
            <a:ln cap="flat" w="193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8" id="78"/>
            <p:cNvSpPr/>
            <p:nvPr/>
          </p:nvSpPr>
          <p:spPr>
            <a:xfrm flipH="true">
              <a:off x="1841106" y="2906528"/>
              <a:ext cx="9307" cy="442453"/>
            </a:xfrm>
            <a:prstGeom prst="line">
              <a:avLst/>
            </a:prstGeom>
            <a:ln cap="flat" w="193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9" id="79"/>
            <p:cNvSpPr txBox="true"/>
            <p:nvPr/>
          </p:nvSpPr>
          <p:spPr>
            <a:xfrm rot="0">
              <a:off x="1710627" y="3286693"/>
              <a:ext cx="218528" cy="4235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4"/>
                </a:lnSpc>
                <a:spcBef>
                  <a:spcPct val="0"/>
                </a:spcBef>
              </a:pPr>
              <a:r>
                <a:rPr lang="en-US" b="true" sz="1903" spc="-7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80" id="80"/>
            <p:cNvSpPr/>
            <p:nvPr/>
          </p:nvSpPr>
          <p:spPr>
            <a:xfrm flipH="true">
              <a:off x="698946" y="2304591"/>
              <a:ext cx="341286" cy="299649"/>
            </a:xfrm>
            <a:prstGeom prst="line">
              <a:avLst/>
            </a:prstGeom>
            <a:ln cap="flat" w="193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1" id="81"/>
            <p:cNvSpPr/>
            <p:nvPr/>
          </p:nvSpPr>
          <p:spPr>
            <a:xfrm flipH="true">
              <a:off x="752993" y="2366148"/>
              <a:ext cx="341286" cy="299649"/>
            </a:xfrm>
            <a:prstGeom prst="line">
              <a:avLst/>
            </a:prstGeom>
            <a:ln cap="flat" w="193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2" id="82"/>
            <p:cNvSpPr txBox="true"/>
            <p:nvPr/>
          </p:nvSpPr>
          <p:spPr>
            <a:xfrm rot="5400000">
              <a:off x="481143" y="2476372"/>
              <a:ext cx="218528" cy="4235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4"/>
                </a:lnSpc>
                <a:spcBef>
                  <a:spcPct val="0"/>
                </a:spcBef>
              </a:pPr>
              <a:r>
                <a:rPr lang="en-US" b="true" sz="1903" spc="-7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O</a:t>
              </a:r>
            </a:p>
          </p:txBody>
        </p:sp>
        <p:sp>
          <p:nvSpPr>
            <p:cNvPr name="TextBox 83" id="83"/>
            <p:cNvSpPr txBox="true"/>
            <p:nvPr/>
          </p:nvSpPr>
          <p:spPr>
            <a:xfrm rot="5439163">
              <a:off x="470480" y="2427985"/>
              <a:ext cx="67875" cy="423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6"/>
                </a:lnSpc>
                <a:spcBef>
                  <a:spcPct val="0"/>
                </a:spcBef>
              </a:pPr>
              <a:r>
                <a:rPr lang="en-US" b="true" sz="1904" spc="-7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84" id="84"/>
            <p:cNvSpPr txBox="true"/>
            <p:nvPr/>
          </p:nvSpPr>
          <p:spPr>
            <a:xfrm rot="5439163">
              <a:off x="469189" y="2541327"/>
              <a:ext cx="67875" cy="423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6"/>
                </a:lnSpc>
                <a:spcBef>
                  <a:spcPct val="0"/>
                </a:spcBef>
              </a:pPr>
              <a:r>
                <a:rPr lang="en-US" b="true" sz="1904" spc="-7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85" id="85"/>
            <p:cNvSpPr txBox="true"/>
            <p:nvPr/>
          </p:nvSpPr>
          <p:spPr>
            <a:xfrm rot="-3245">
              <a:off x="480726" y="2551807"/>
              <a:ext cx="67875" cy="423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6"/>
                </a:lnSpc>
                <a:spcBef>
                  <a:spcPct val="0"/>
                </a:spcBef>
              </a:pPr>
              <a:r>
                <a:rPr lang="en-US" b="true" sz="1904" spc="-7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86" id="86"/>
            <p:cNvSpPr txBox="true"/>
            <p:nvPr/>
          </p:nvSpPr>
          <p:spPr>
            <a:xfrm rot="-3245">
              <a:off x="594076" y="2551700"/>
              <a:ext cx="67875" cy="423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6"/>
                </a:lnSpc>
                <a:spcBef>
                  <a:spcPct val="0"/>
                </a:spcBef>
              </a:pPr>
              <a:r>
                <a:rPr lang="en-US" b="true" sz="1904" spc="-7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87" id="87"/>
            <p:cNvSpPr txBox="true"/>
            <p:nvPr/>
          </p:nvSpPr>
          <p:spPr>
            <a:xfrm rot="0">
              <a:off x="504861" y="1248817"/>
              <a:ext cx="209047" cy="406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9"/>
                </a:lnSpc>
                <a:spcBef>
                  <a:spcPct val="0"/>
                </a:spcBef>
              </a:pPr>
              <a:r>
                <a:rPr lang="en-US" b="true" sz="1820" spc="-7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</a:t>
              </a:r>
            </a:p>
          </p:txBody>
        </p:sp>
        <p:sp>
          <p:nvSpPr>
            <p:cNvPr name="AutoShape 88" id="88"/>
            <p:cNvSpPr/>
            <p:nvPr/>
          </p:nvSpPr>
          <p:spPr>
            <a:xfrm>
              <a:off x="580147" y="1114005"/>
              <a:ext cx="26711" cy="224410"/>
            </a:xfrm>
            <a:prstGeom prst="line">
              <a:avLst/>
            </a:prstGeom>
            <a:ln cap="flat" w="1451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9" id="89"/>
            <p:cNvSpPr/>
            <p:nvPr/>
          </p:nvSpPr>
          <p:spPr>
            <a:xfrm flipV="true">
              <a:off x="360032" y="1548013"/>
              <a:ext cx="122860" cy="206968"/>
            </a:xfrm>
            <a:prstGeom prst="line">
              <a:avLst/>
            </a:prstGeom>
            <a:ln cap="flat" w="1451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0" id="90"/>
            <p:cNvSpPr txBox="true"/>
            <p:nvPr/>
          </p:nvSpPr>
          <p:spPr>
            <a:xfrm rot="0">
              <a:off x="240880" y="1650351"/>
              <a:ext cx="208337" cy="374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2"/>
                </a:lnSpc>
                <a:spcBef>
                  <a:spcPct val="0"/>
                </a:spcBef>
              </a:pPr>
              <a:r>
                <a:rPr lang="en-US" b="true" sz="1666" spc="-6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TextBox 91" id="91"/>
            <p:cNvSpPr txBox="true"/>
            <p:nvPr/>
          </p:nvSpPr>
          <p:spPr>
            <a:xfrm rot="0">
              <a:off x="469055" y="797166"/>
              <a:ext cx="208337" cy="374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2"/>
                </a:lnSpc>
                <a:spcBef>
                  <a:spcPct val="0"/>
                </a:spcBef>
              </a:pPr>
              <a:r>
                <a:rPr lang="en-US" b="true" sz="1666" spc="-6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92" id="92"/>
            <p:cNvSpPr/>
            <p:nvPr/>
          </p:nvSpPr>
          <p:spPr>
            <a:xfrm flipH="true" flipV="true">
              <a:off x="240880" y="1289940"/>
              <a:ext cx="234772" cy="130138"/>
            </a:xfrm>
            <a:prstGeom prst="line">
              <a:avLst/>
            </a:prstGeom>
            <a:ln cap="flat" w="1451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3" id="93"/>
            <p:cNvSpPr txBox="true"/>
            <p:nvPr/>
          </p:nvSpPr>
          <p:spPr>
            <a:xfrm rot="0">
              <a:off x="0" y="1040572"/>
              <a:ext cx="208337" cy="374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2"/>
                </a:lnSpc>
                <a:spcBef>
                  <a:spcPct val="0"/>
                </a:spcBef>
              </a:pPr>
              <a:r>
                <a:rPr lang="en-US" b="true" sz="1666" spc="-6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94" id="94"/>
            <p:cNvSpPr/>
            <p:nvPr/>
          </p:nvSpPr>
          <p:spPr>
            <a:xfrm flipH="true">
              <a:off x="3384756" y="295174"/>
              <a:ext cx="128633" cy="203430"/>
            </a:xfrm>
            <a:prstGeom prst="line">
              <a:avLst/>
            </a:prstGeom>
            <a:ln cap="flat" w="1451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5" id="95"/>
            <p:cNvSpPr txBox="true"/>
            <p:nvPr/>
          </p:nvSpPr>
          <p:spPr>
            <a:xfrm rot="-10703287">
              <a:off x="3426525" y="25588"/>
              <a:ext cx="208337" cy="374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2"/>
                </a:lnSpc>
                <a:spcBef>
                  <a:spcPct val="0"/>
                </a:spcBef>
              </a:pPr>
              <a:r>
                <a:rPr lang="en-US" b="true" sz="1666" spc="-6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96" id="96"/>
            <p:cNvSpPr/>
            <p:nvPr/>
          </p:nvSpPr>
          <p:spPr>
            <a:xfrm>
              <a:off x="3436823" y="688956"/>
              <a:ext cx="231019" cy="136691"/>
            </a:xfrm>
            <a:prstGeom prst="line">
              <a:avLst/>
            </a:prstGeom>
            <a:ln cap="flat" w="1451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7" id="97"/>
            <p:cNvSpPr txBox="true"/>
            <p:nvPr/>
          </p:nvSpPr>
          <p:spPr>
            <a:xfrm rot="-10703287">
              <a:off x="3698585" y="704166"/>
              <a:ext cx="208337" cy="374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2"/>
                </a:lnSpc>
                <a:spcBef>
                  <a:spcPct val="0"/>
                </a:spcBef>
              </a:pPr>
              <a:r>
                <a:rPr lang="en-US" b="true" sz="1666" spc="-6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98" id="98"/>
            <p:cNvSpPr/>
            <p:nvPr/>
          </p:nvSpPr>
          <p:spPr>
            <a:xfrm flipH="true" flipV="true">
              <a:off x="2936309" y="486734"/>
              <a:ext cx="234772" cy="130138"/>
            </a:xfrm>
            <a:prstGeom prst="line">
              <a:avLst/>
            </a:prstGeom>
            <a:ln cap="flat" w="1451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9" id="99"/>
            <p:cNvSpPr txBox="true"/>
            <p:nvPr/>
          </p:nvSpPr>
          <p:spPr>
            <a:xfrm rot="0">
              <a:off x="2695429" y="237366"/>
              <a:ext cx="208337" cy="374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2"/>
                </a:lnSpc>
                <a:spcBef>
                  <a:spcPct val="0"/>
                </a:spcBef>
              </a:pPr>
              <a:r>
                <a:rPr lang="en-US" b="true" sz="1666" spc="-6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100" id="100"/>
            <p:cNvSpPr/>
            <p:nvPr/>
          </p:nvSpPr>
          <p:spPr>
            <a:xfrm flipV="true">
              <a:off x="3910831" y="1830798"/>
              <a:ext cx="236783" cy="26692"/>
            </a:xfrm>
            <a:prstGeom prst="line">
              <a:avLst/>
            </a:prstGeom>
            <a:ln cap="flat" w="1451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01" id="101"/>
            <p:cNvSpPr txBox="true"/>
            <p:nvPr/>
          </p:nvSpPr>
          <p:spPr>
            <a:xfrm rot="-10800000">
              <a:off x="4158316" y="1669698"/>
              <a:ext cx="208337" cy="374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2"/>
                </a:lnSpc>
                <a:spcBef>
                  <a:spcPct val="0"/>
                </a:spcBef>
              </a:pPr>
              <a:r>
                <a:rPr lang="en-US" b="true" sz="1666" spc="-6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102" id="102"/>
            <p:cNvSpPr/>
            <p:nvPr/>
          </p:nvSpPr>
          <p:spPr>
            <a:xfrm flipV="true">
              <a:off x="1619736" y="3639133"/>
              <a:ext cx="128633" cy="203430"/>
            </a:xfrm>
            <a:prstGeom prst="line">
              <a:avLst/>
            </a:prstGeom>
            <a:ln cap="flat" w="1451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03" id="103"/>
            <p:cNvSpPr txBox="true"/>
            <p:nvPr/>
          </p:nvSpPr>
          <p:spPr>
            <a:xfrm rot="96712">
              <a:off x="1498263" y="3737480"/>
              <a:ext cx="208337" cy="374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2"/>
                </a:lnSpc>
                <a:spcBef>
                  <a:spcPct val="0"/>
                </a:spcBef>
              </a:pPr>
              <a:r>
                <a:rPr lang="en-US" b="true" sz="1666" spc="-6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104" id="104"/>
            <p:cNvSpPr/>
            <p:nvPr/>
          </p:nvSpPr>
          <p:spPr>
            <a:xfrm flipH="true" flipV="true">
              <a:off x="1465283" y="3312090"/>
              <a:ext cx="231019" cy="136691"/>
            </a:xfrm>
            <a:prstGeom prst="line">
              <a:avLst/>
            </a:prstGeom>
            <a:ln cap="flat" w="1451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05" id="105"/>
            <p:cNvSpPr txBox="true"/>
            <p:nvPr/>
          </p:nvSpPr>
          <p:spPr>
            <a:xfrm rot="96712">
              <a:off x="1226203" y="3058901"/>
              <a:ext cx="208337" cy="374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2"/>
                </a:lnSpc>
                <a:spcBef>
                  <a:spcPct val="0"/>
                </a:spcBef>
              </a:pPr>
              <a:r>
                <a:rPr lang="en-US" b="true" sz="1666" spc="-6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AutoShape 106" id="106"/>
            <p:cNvSpPr/>
            <p:nvPr/>
          </p:nvSpPr>
          <p:spPr>
            <a:xfrm>
              <a:off x="1962044" y="3520865"/>
              <a:ext cx="234772" cy="130138"/>
            </a:xfrm>
            <a:prstGeom prst="line">
              <a:avLst/>
            </a:prstGeom>
            <a:ln cap="flat" w="1451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07" id="107"/>
            <p:cNvSpPr txBox="true"/>
            <p:nvPr/>
          </p:nvSpPr>
          <p:spPr>
            <a:xfrm rot="-10800000">
              <a:off x="2229359" y="3525702"/>
              <a:ext cx="208337" cy="374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2"/>
                </a:lnSpc>
                <a:spcBef>
                  <a:spcPct val="0"/>
                </a:spcBef>
              </a:pPr>
              <a:r>
                <a:rPr lang="en-US" b="true" sz="1666" spc="-6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</a:t>
              </a:r>
            </a:p>
          </p:txBody>
        </p:sp>
        <p:sp>
          <p:nvSpPr>
            <p:cNvPr name="TextBox 108" id="108"/>
            <p:cNvSpPr txBox="true"/>
            <p:nvPr/>
          </p:nvSpPr>
          <p:spPr>
            <a:xfrm rot="-3245">
              <a:off x="3203331" y="2283532"/>
              <a:ext cx="67875" cy="423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6"/>
                </a:lnSpc>
                <a:spcBef>
                  <a:spcPct val="0"/>
                </a:spcBef>
              </a:pPr>
              <a:r>
                <a:rPr lang="en-US" b="true" sz="1904" spc="-7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109" id="109"/>
            <p:cNvSpPr txBox="true"/>
            <p:nvPr/>
          </p:nvSpPr>
          <p:spPr>
            <a:xfrm rot="-3245">
              <a:off x="3316681" y="2283425"/>
              <a:ext cx="67875" cy="423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6"/>
                </a:lnSpc>
                <a:spcBef>
                  <a:spcPct val="0"/>
                </a:spcBef>
              </a:pPr>
              <a:r>
                <a:rPr lang="en-US" b="true" sz="1904" spc="-7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110" id="110"/>
            <p:cNvSpPr txBox="true"/>
            <p:nvPr/>
          </p:nvSpPr>
          <p:spPr>
            <a:xfrm rot="298679">
              <a:off x="3126067" y="1215984"/>
              <a:ext cx="67875" cy="423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6"/>
                </a:lnSpc>
                <a:spcBef>
                  <a:spcPct val="0"/>
                </a:spcBef>
              </a:pPr>
              <a:r>
                <a:rPr lang="en-US" b="true" sz="1904" spc="-7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111" id="111"/>
            <p:cNvSpPr txBox="true"/>
            <p:nvPr/>
          </p:nvSpPr>
          <p:spPr>
            <a:xfrm rot="298679">
              <a:off x="3238989" y="1225820"/>
              <a:ext cx="67875" cy="423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6"/>
                </a:lnSpc>
                <a:spcBef>
                  <a:spcPct val="0"/>
                </a:spcBef>
              </a:pPr>
              <a:r>
                <a:rPr lang="en-US" b="true" sz="1904" spc="-76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.</a:t>
              </a:r>
            </a:p>
          </p:txBody>
        </p:sp>
        <p:sp>
          <p:nvSpPr>
            <p:cNvPr name="TextBox 112" id="112"/>
            <p:cNvSpPr txBox="true"/>
            <p:nvPr/>
          </p:nvSpPr>
          <p:spPr>
            <a:xfrm rot="-5403245">
              <a:off x="1276901" y="1374981"/>
              <a:ext cx="67875" cy="423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6"/>
                </a:lnSpc>
                <a:spcBef>
                  <a:spcPct val="0"/>
                </a:spcBef>
              </a:pPr>
              <a:r>
                <a:rPr lang="en-US" sz="1904" spc="-76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.</a:t>
              </a:r>
            </a:p>
          </p:txBody>
        </p:sp>
        <p:sp>
          <p:nvSpPr>
            <p:cNvPr name="TextBox 113" id="113"/>
            <p:cNvSpPr txBox="true"/>
            <p:nvPr/>
          </p:nvSpPr>
          <p:spPr>
            <a:xfrm rot="-5403245">
              <a:off x="1276794" y="1261632"/>
              <a:ext cx="67875" cy="423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6"/>
                </a:lnSpc>
                <a:spcBef>
                  <a:spcPct val="0"/>
                </a:spcBef>
              </a:pPr>
              <a:r>
                <a:rPr lang="en-US" sz="1904" spc="-76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.</a:t>
              </a:r>
            </a:p>
          </p:txBody>
        </p:sp>
        <p:sp>
          <p:nvSpPr>
            <p:cNvPr name="TextBox 114" id="114"/>
            <p:cNvSpPr txBox="true"/>
            <p:nvPr/>
          </p:nvSpPr>
          <p:spPr>
            <a:xfrm rot="10796754">
              <a:off x="1878375" y="2446764"/>
              <a:ext cx="67875" cy="423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6"/>
                </a:lnSpc>
                <a:spcBef>
                  <a:spcPct val="0"/>
                </a:spcBef>
              </a:pPr>
              <a:r>
                <a:rPr lang="en-US" sz="1904" spc="-76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.</a:t>
              </a:r>
            </a:p>
          </p:txBody>
        </p:sp>
        <p:sp>
          <p:nvSpPr>
            <p:cNvPr name="TextBox 115" id="115"/>
            <p:cNvSpPr txBox="true"/>
            <p:nvPr/>
          </p:nvSpPr>
          <p:spPr>
            <a:xfrm rot="10796754">
              <a:off x="1765026" y="2446871"/>
              <a:ext cx="67875" cy="423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6"/>
                </a:lnSpc>
                <a:spcBef>
                  <a:spcPct val="0"/>
                </a:spcBef>
              </a:pPr>
              <a:r>
                <a:rPr lang="en-US" sz="1904" spc="-76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DAHXHtC-x8c</dc:identifier>
  <dcterms:modified xsi:type="dcterms:W3CDTF">2011-08-01T06:04:30Z</dcterms:modified>
  <cp:revision>1</cp:revision>
  <dc:title>002_molecule_representation_source_Alvarez</dc:title>
</cp:coreProperties>
</file>